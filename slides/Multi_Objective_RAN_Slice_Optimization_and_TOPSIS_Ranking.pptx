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1" r:id="rId2"/>
    <p:sldId id="256" r:id="rId3"/>
    <p:sldId id="267" r:id="rId4"/>
    <p:sldId id="275" r:id="rId5"/>
    <p:sldId id="273" r:id="rId6"/>
    <p:sldId id="274" r:id="rId7"/>
    <p:sldId id="268" r:id="rId8"/>
    <p:sldId id="26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65B"/>
    <a:srgbClr val="C0392B"/>
    <a:srgbClr val="000000"/>
    <a:srgbClr val="FFF0EE"/>
    <a:srgbClr val="FFFFFF"/>
    <a:srgbClr val="062DEC"/>
    <a:srgbClr val="4472C4"/>
    <a:srgbClr val="CB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3DBD5-A0CA-F32B-AE10-EC39DFE807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84A46-144C-875A-6071-DC55545E90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D79B1-6B7F-4B16-809B-3FCFA3C93DE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113C4-5DFB-0CE8-731C-8962B948A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A53B4-6992-A0CD-FF87-5ED66176DE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B984D-C48D-4A5C-A1FD-4A000B0F5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4688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8A259-EC5C-486F-8E25-9A7145B17D36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84B5D-137E-4885-9181-B35E089F3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090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8633-2599-E031-CB79-74062047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708F2-CD4A-DFF3-B39D-7FC17AE0D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2D751-7735-1041-3556-B94B7C046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86ADB-D2A0-FE0E-9A87-A34D994C5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D462-3ACB-9BF4-B07D-0E55D23162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820CF-F3C3-B65F-0518-36D8D07C0F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5AA9-4A3B-DFAB-BFAC-DFEEA2662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F1485-E24F-2FA6-3731-29096AEF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E9AD4-D77C-73AE-9C5C-0AE84A0CF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429AB-F2B4-7C2F-E483-FB620A50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30182-C540-C86E-82D8-9480C7DED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192CC-73D1-36D4-3F2D-185B4DA2FF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03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902A-154F-F1D2-A630-E936497D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645D8-057A-E82D-5CD2-40E64475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1D434-6E92-FBB9-DD05-CCDC1F820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31EA5-5A9F-63A8-9D37-D22BD241C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8095F-A731-E4BF-4D46-996060BE20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36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F1C7-C7FE-AA3C-6DD9-292A266D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0A246-D152-585C-0F43-5BB15615D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5E134-50C0-8933-3367-ACD239EBE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4C0C8-A9C8-AC10-38C8-3371F2A17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757C8-CFAF-DB06-5FF1-FE301BBCF9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83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AE83A-56EE-3756-198F-A3508D6AEC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E546A-2C4A-A17F-AF04-DD6DDB2BA33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E0ED-A1EE-8B7C-6F64-F7560C93F5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845A-68FE-F567-7CE6-F6C6731474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28BA-F2F2-AA9B-85C4-BE88A748B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453A-AE22-B256-30C8-A64C8C05B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810-265E-36E0-C941-6A005F14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610A0-4144-CB70-B4B8-1080F8ED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A858-95D0-80B4-AEDA-415AF441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C31A-25EE-5F27-3E99-8BB74BDA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FDF4-34B8-DDD0-73C3-D00F9780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AFACB-13F9-74BA-F81F-516B542E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A8DF-8C00-8ECA-0A62-22B90FE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B4735-219D-8E53-14C0-40A9F773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2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3F49-2B4E-2B7F-3D1B-74B33A21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6C52-E706-DBB0-3BA4-C11CA954D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C4408-C7A5-A98D-418E-96D471D7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91E7-0912-6CEB-462E-C4E8041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76C1-A3BD-5F68-F615-D77FDDA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7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8B60-124A-705D-CDF9-67B0D1D2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28E2-5B64-1C6E-6D8A-16DDE85B2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71486-48B3-630A-E450-9795DEE19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2B4F-756A-1D81-6B9E-F28FD02A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12180-853E-6718-FFE4-71A59D29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63474-2CDD-F14E-2EC6-8F54A9CB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D403-EF0E-FCA8-F71A-A1380DBD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9ED11-04A9-230B-7BCA-2E8619524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3BE01-6D94-B4D1-36A3-B90CEE4F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F8835-9358-0D7A-6AA5-980C1F26B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0BD4A-9307-078C-1B03-7C9301865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FEEB5-F0F6-A764-2C54-F692E932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1F987-CFE4-4A4E-2A3E-C7EB947B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E885-D3A2-262A-9196-6FFABA1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8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2CDF-7353-4B17-154F-14C6C36D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AABE-6F8B-4926-6134-1FE1B9F8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A9D91-8321-3637-2369-DB55AD21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7C1A-612E-EC85-324D-6D3225C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8C74-10E0-9161-8EFD-5EFA3BAB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4B529-9C51-F80E-0161-FE3CD3C7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34FD-548C-D5C7-7EE9-E84B8A3D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8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BE4D-8AE0-7D76-B9E2-8C11C350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D3A5-7511-6E96-FA9F-C0B7D9FF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AF36E-7A2D-615C-E80B-B4EEA006E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7EF8E-D1CE-6894-CC4A-ABE89C47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7909-52CA-9EC1-A145-53D793E8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8DD3-FF0D-0C69-977F-E4BF82AA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0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BBD1-32E4-07CD-677A-4234179B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BD5DC-E384-246E-166E-96400D5E5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D1C13-F534-BBA9-B6A7-1C002AF3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A9117-EBE5-09A6-7CD9-836018D5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980C7-88FB-E343-E142-CD61BBB9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5CAE-EC46-6BAF-B71B-8F837184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9FA-0F20-6BE4-27C4-85AA0F5B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EEA0D-556C-5DC9-FBDC-1A0FA928D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377-4F08-3F3F-726E-ED4B6BB7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8D4C-A882-18EA-3304-4A938D33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DD9A-8CF4-81A2-B3F2-0E0BB0CF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E2187-8BED-D821-B049-E81FE34EC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FD67E-C3AB-7B2A-A2CA-A73631C6C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89B3A-EE6F-BEBE-743A-431AA78F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BF4B-39A0-90C7-6779-958C7A7C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FE8C-539C-9DE2-9D2B-FDA80BEB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0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33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5761-6FC6-27BF-C01E-640D24654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C0511-7138-CFC9-6BE8-A46F0069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992D-B164-28C2-5A77-9D2B6507B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7344-E586-A80A-9E34-D4E4B770B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44D-CD63-B26C-B970-26DF2F937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14CD1-B2ED-44D0-9C35-0F6E1DE20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C9C4-3613-2EF5-7488-6096F8AD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969BA0-C1A9-84F2-6B0A-CC9E3DE1EC0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C9F583FE-6EED-CDA2-E3ED-9C8FBDEB5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hape 18">
            <a:extLst>
              <a:ext uri="{FF2B5EF4-FFF2-40B4-BE49-F238E27FC236}">
                <a16:creationId xmlns:a16="http://schemas.microsoft.com/office/drawing/2014/main" id="{93076092-4F2E-C994-307D-742EA0A99D15}"/>
              </a:ext>
            </a:extLst>
          </p:cNvPr>
          <p:cNvSpPr/>
          <p:nvPr/>
        </p:nvSpPr>
        <p:spPr>
          <a:xfrm>
            <a:off x="3415454" y="1921595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0DABB54B-0107-269F-D610-7FB8A1FDFE63}"/>
              </a:ext>
            </a:extLst>
          </p:cNvPr>
          <p:cNvSpPr/>
          <p:nvPr/>
        </p:nvSpPr>
        <p:spPr>
          <a:xfrm>
            <a:off x="3525182" y="197188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C192EBAB-39F5-8B0E-5126-304829986D4F}"/>
              </a:ext>
            </a:extLst>
          </p:cNvPr>
          <p:cNvSpPr/>
          <p:nvPr/>
        </p:nvSpPr>
        <p:spPr>
          <a:xfrm>
            <a:off x="5655734" y="1921595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07BBA00F-C5F6-5D59-E4B8-C6D2888ED683}"/>
              </a:ext>
            </a:extLst>
          </p:cNvPr>
          <p:cNvSpPr/>
          <p:nvPr/>
        </p:nvSpPr>
        <p:spPr>
          <a:xfrm>
            <a:off x="5765462" y="197188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5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9AFCA38B-C46F-F30B-BFAE-0334674CB1FD}"/>
              </a:ext>
            </a:extLst>
          </p:cNvPr>
          <p:cNvSpPr/>
          <p:nvPr/>
        </p:nvSpPr>
        <p:spPr>
          <a:xfrm>
            <a:off x="3415454" y="2305643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D196868D-6626-4B63-1086-A7BFECFB841B}"/>
              </a:ext>
            </a:extLst>
          </p:cNvPr>
          <p:cNvSpPr/>
          <p:nvPr/>
        </p:nvSpPr>
        <p:spPr>
          <a:xfrm>
            <a:off x="3525182" y="2425531"/>
            <a:ext cx="6234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MCS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A1E7DFCE-78E0-AC61-1EC3-1A3B513A3939}"/>
              </a:ext>
            </a:extLst>
          </p:cNvPr>
          <p:cNvSpPr/>
          <p:nvPr/>
        </p:nvSpPr>
        <p:spPr>
          <a:xfrm>
            <a:off x="5655734" y="2305643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AAD1ECC-BBF9-AD6F-2B7F-3F70F87F0B0B}"/>
              </a:ext>
            </a:extLst>
          </p:cNvPr>
          <p:cNvSpPr/>
          <p:nvPr/>
        </p:nvSpPr>
        <p:spPr>
          <a:xfrm>
            <a:off x="5765462" y="235593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28</a:t>
            </a:r>
            <a:endParaRPr lang="en-US" sz="11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4264AC9D-4068-1351-058A-BB266F82183C}"/>
              </a:ext>
            </a:extLst>
          </p:cNvPr>
          <p:cNvSpPr/>
          <p:nvPr/>
        </p:nvSpPr>
        <p:spPr>
          <a:xfrm>
            <a:off x="3415454" y="2689691"/>
            <a:ext cx="6035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093BD87C-A921-138C-D46C-68636AE136F4}"/>
              </a:ext>
            </a:extLst>
          </p:cNvPr>
          <p:cNvSpPr/>
          <p:nvPr/>
        </p:nvSpPr>
        <p:spPr>
          <a:xfrm>
            <a:off x="4391322" y="2854283"/>
            <a:ext cx="4158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latin typeface="Aptos" panose="020B0004020202020204" pitchFamily="34" charset="0"/>
              </a:rPr>
              <a:t>  Spec 3GPP TS 22.261 V20.6.0 (2026-03)</a:t>
            </a:r>
          </a:p>
          <a:p>
            <a:pPr algn="ctr"/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A09452EE-06F2-14EA-4DE7-636E54BBF2A5}"/>
              </a:ext>
            </a:extLst>
          </p:cNvPr>
          <p:cNvSpPr/>
          <p:nvPr/>
        </p:nvSpPr>
        <p:spPr>
          <a:xfrm>
            <a:off x="3415454" y="3073739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B7D727C2-40A5-DE0A-7BE6-D45C806A50CB}"/>
              </a:ext>
            </a:extLst>
          </p:cNvPr>
          <p:cNvSpPr/>
          <p:nvPr/>
        </p:nvSpPr>
        <p:spPr>
          <a:xfrm>
            <a:off x="3525182" y="3124031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eMBB</a:t>
            </a:r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2C3FE6E8-D209-D899-6F92-031826F83D88}"/>
              </a:ext>
            </a:extLst>
          </p:cNvPr>
          <p:cNvSpPr/>
          <p:nvPr/>
        </p:nvSpPr>
        <p:spPr>
          <a:xfrm>
            <a:off x="5655734" y="3073739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2CF55676-9B2C-F2DB-AD63-4A25990A84CD}"/>
              </a:ext>
            </a:extLst>
          </p:cNvPr>
          <p:cNvSpPr/>
          <p:nvPr/>
        </p:nvSpPr>
        <p:spPr>
          <a:xfrm>
            <a:off x="5765462" y="33617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Table 7.1-1- Rural macro</a:t>
            </a:r>
          </a:p>
          <a:p>
            <a:endParaRPr lang="en-US" dirty="0"/>
          </a:p>
          <a:p>
            <a:endParaRPr lang="en-US" sz="1100" dirty="0"/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08951B89-C8BA-0D4E-1809-2E82914A9F40}"/>
              </a:ext>
            </a:extLst>
          </p:cNvPr>
          <p:cNvSpPr/>
          <p:nvPr/>
        </p:nvSpPr>
        <p:spPr>
          <a:xfrm>
            <a:off x="3415454" y="3457787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AB0915EF-A400-644E-9A79-C308D2556D70}"/>
              </a:ext>
            </a:extLst>
          </p:cNvPr>
          <p:cNvSpPr/>
          <p:nvPr/>
        </p:nvSpPr>
        <p:spPr>
          <a:xfrm>
            <a:off x="3515868" y="3578945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Data rate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53B2E574-5D81-133A-2F8F-10F38D4B4786}"/>
              </a:ext>
            </a:extLst>
          </p:cNvPr>
          <p:cNvSpPr/>
          <p:nvPr/>
        </p:nvSpPr>
        <p:spPr>
          <a:xfrm>
            <a:off x="5655734" y="345778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81B5A382-61B0-1717-E7E9-13461985ACCE}"/>
              </a:ext>
            </a:extLst>
          </p:cNvPr>
          <p:cNvSpPr/>
          <p:nvPr/>
        </p:nvSpPr>
        <p:spPr>
          <a:xfrm>
            <a:off x="5765462" y="3508079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50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B36E742D-87E6-1B26-9E27-AAEEE444351A}"/>
              </a:ext>
            </a:extLst>
          </p:cNvPr>
          <p:cNvSpPr/>
          <p:nvPr/>
        </p:nvSpPr>
        <p:spPr>
          <a:xfrm>
            <a:off x="3415454" y="3841835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F6C6EAD7-4341-04E1-6C8C-E191EA2A74BA}"/>
              </a:ext>
            </a:extLst>
          </p:cNvPr>
          <p:cNvSpPr/>
          <p:nvPr/>
        </p:nvSpPr>
        <p:spPr>
          <a:xfrm>
            <a:off x="3525182" y="389212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URLLC</a:t>
            </a:r>
          </a:p>
        </p:txBody>
      </p:sp>
      <p:sp>
        <p:nvSpPr>
          <p:cNvPr id="87" name="Shape 40">
            <a:extLst>
              <a:ext uri="{FF2B5EF4-FFF2-40B4-BE49-F238E27FC236}">
                <a16:creationId xmlns:a16="http://schemas.microsoft.com/office/drawing/2014/main" id="{07C6CC71-F9E3-F01A-F2C2-A8C659BFE0B0}"/>
              </a:ext>
            </a:extLst>
          </p:cNvPr>
          <p:cNvSpPr/>
          <p:nvPr/>
        </p:nvSpPr>
        <p:spPr>
          <a:xfrm>
            <a:off x="5655734" y="3841835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FE93FFC8-1A75-6E87-BA7B-280A07351F7F}"/>
              </a:ext>
            </a:extLst>
          </p:cNvPr>
          <p:cNvSpPr/>
          <p:nvPr/>
        </p:nvSpPr>
        <p:spPr>
          <a:xfrm>
            <a:off x="5765462" y="389212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7.2.3.2-1</a:t>
            </a:r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FF6208A0-6C9A-742B-826E-1B67D3D4B897}"/>
              </a:ext>
            </a:extLst>
          </p:cNvPr>
          <p:cNvSpPr/>
          <p:nvPr/>
        </p:nvSpPr>
        <p:spPr>
          <a:xfrm>
            <a:off x="3415454" y="4225883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07409A01-9DD5-B7B1-3F1D-75BB9D78EAA4}"/>
              </a:ext>
            </a:extLst>
          </p:cNvPr>
          <p:cNvSpPr/>
          <p:nvPr/>
        </p:nvSpPr>
        <p:spPr>
          <a:xfrm>
            <a:off x="3525182" y="434407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mMTC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C7C8D1A9-3679-A89D-20DB-92279A96EDFB}"/>
              </a:ext>
            </a:extLst>
          </p:cNvPr>
          <p:cNvSpPr/>
          <p:nvPr/>
        </p:nvSpPr>
        <p:spPr>
          <a:xfrm>
            <a:off x="5655734" y="4225883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5">
            <a:extLst>
              <a:ext uri="{FF2B5EF4-FFF2-40B4-BE49-F238E27FC236}">
                <a16:creationId xmlns:a16="http://schemas.microsoft.com/office/drawing/2014/main" id="{3C9E9C94-DBED-7F23-9A38-5344A113954A}"/>
              </a:ext>
            </a:extLst>
          </p:cNvPr>
          <p:cNvSpPr/>
          <p:nvPr/>
        </p:nvSpPr>
        <p:spPr>
          <a:xfrm>
            <a:off x="5765462" y="42761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7.5.2-1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D2F17-E3B2-DBC7-8DCE-18C4621E2CCA}"/>
              </a:ext>
            </a:extLst>
          </p:cNvPr>
          <p:cNvSpPr txBox="1"/>
          <p:nvPr/>
        </p:nvSpPr>
        <p:spPr>
          <a:xfrm>
            <a:off x="692912" y="1021618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Rural Macro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998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811099" y="283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DB"/>
                </a:solidFill>
              </a:rPr>
              <a:t>TOPSIS Algorithm • eMBB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Media-Flex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98280" y="3474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89720" y="4572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</a:rPr>
              <a:t>slice = eMBB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0.8812</a:t>
            </a:r>
            <a:endParaRPr lang="en-US" sz="3100" dirty="0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3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1938528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19888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0" y="1938528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67728" y="19888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23225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23728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3225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67728" y="23728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7066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27448" y="27569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0" y="27066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67728" y="27569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0906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7448" y="31409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0906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67728" y="31409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0.881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4747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27448" y="35250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4747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7728" y="35250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595.227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8587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27448" y="39090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8587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67728" y="39090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42428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27448" y="42931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2428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67728" y="42931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34.478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46268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27448" y="46771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58000" y="46268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67728" y="46771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50109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27448" y="50612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58000" y="50109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67728" y="50612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C889E59B-37A1-35B1-5DFA-D3231B287E16}"/>
              </a:ext>
            </a:extLst>
          </p:cNvPr>
          <p:cNvSpPr/>
          <p:nvPr/>
        </p:nvSpPr>
        <p:spPr>
          <a:xfrm>
            <a:off x="53170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>
            <a:extLst>
              <a:ext uri="{FF2B5EF4-FFF2-40B4-BE49-F238E27FC236}">
                <a16:creationId xmlns:a16="http://schemas.microsoft.com/office/drawing/2014/main" id="{F969C361-F8CA-E1B2-79E1-A4EA71D3923F}"/>
              </a:ext>
            </a:extLst>
          </p:cNvPr>
          <p:cNvSpPr/>
          <p:nvPr/>
        </p:nvSpPr>
        <p:spPr>
          <a:xfrm>
            <a:off x="69629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46BF7055-0487-F1F2-EF40-4A8139173D23}"/>
              </a:ext>
            </a:extLst>
          </p:cNvPr>
          <p:cNvSpPr/>
          <p:nvPr/>
        </p:nvSpPr>
        <p:spPr>
          <a:xfrm>
            <a:off x="69629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60.0 Mbps</a:t>
            </a:r>
            <a:endParaRPr lang="en-US" sz="1700" dirty="0"/>
          </a:p>
        </p:txBody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9F44B344-568D-CE21-BAED-EA5FF8F56024}"/>
              </a:ext>
            </a:extLst>
          </p:cNvPr>
          <p:cNvSpPr/>
          <p:nvPr/>
        </p:nvSpPr>
        <p:spPr>
          <a:xfrm>
            <a:off x="336634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>
            <a:extLst>
              <a:ext uri="{FF2B5EF4-FFF2-40B4-BE49-F238E27FC236}">
                <a16:creationId xmlns:a16="http://schemas.microsoft.com/office/drawing/2014/main" id="{038B33B6-D97D-E9B2-4244-3E1A67D4FDB6}"/>
              </a:ext>
            </a:extLst>
          </p:cNvPr>
          <p:cNvSpPr/>
          <p:nvPr/>
        </p:nvSpPr>
        <p:spPr>
          <a:xfrm>
            <a:off x="353093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7" name="Text 54">
            <a:extLst>
              <a:ext uri="{FF2B5EF4-FFF2-40B4-BE49-F238E27FC236}">
                <a16:creationId xmlns:a16="http://schemas.microsoft.com/office/drawing/2014/main" id="{1A31A2AC-3EA7-EDD3-35C6-7B7956D4403E}"/>
              </a:ext>
            </a:extLst>
          </p:cNvPr>
          <p:cNvSpPr/>
          <p:nvPr/>
        </p:nvSpPr>
        <p:spPr>
          <a:xfrm>
            <a:off x="353093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10.0 ms</a:t>
            </a:r>
            <a:endParaRPr lang="en-US" sz="1700" dirty="0"/>
          </a:p>
        </p:txBody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BC39B4F9-D550-C9CD-4435-9267C3854241}"/>
              </a:ext>
            </a:extLst>
          </p:cNvPr>
          <p:cNvSpPr/>
          <p:nvPr/>
        </p:nvSpPr>
        <p:spPr>
          <a:xfrm>
            <a:off x="620098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>
            <a:extLst>
              <a:ext uri="{FF2B5EF4-FFF2-40B4-BE49-F238E27FC236}">
                <a16:creationId xmlns:a16="http://schemas.microsoft.com/office/drawing/2014/main" id="{3159F228-483C-DFF5-6D47-F88A687EBDF1}"/>
              </a:ext>
            </a:extLst>
          </p:cNvPr>
          <p:cNvSpPr/>
          <p:nvPr/>
        </p:nvSpPr>
        <p:spPr>
          <a:xfrm>
            <a:off x="636557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2CFA8069-9DFF-F510-FCB6-346544BFF2EC}"/>
              </a:ext>
            </a:extLst>
          </p:cNvPr>
          <p:cNvSpPr/>
          <p:nvPr/>
        </p:nvSpPr>
        <p:spPr>
          <a:xfrm>
            <a:off x="636557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€200.0</a:t>
            </a:r>
            <a:endParaRPr lang="en-US" sz="1700" dirty="0"/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E2FD2A5-A5AA-F124-1846-7ECD06195A03}"/>
              </a:ext>
            </a:extLst>
          </p:cNvPr>
          <p:cNvSpPr/>
          <p:nvPr/>
        </p:nvSpPr>
        <p:spPr>
          <a:xfrm>
            <a:off x="903562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9">
            <a:extLst>
              <a:ext uri="{FF2B5EF4-FFF2-40B4-BE49-F238E27FC236}">
                <a16:creationId xmlns:a16="http://schemas.microsoft.com/office/drawing/2014/main" id="{55A1178B-2808-4BE0-7E35-7577875F58C2}"/>
              </a:ext>
            </a:extLst>
          </p:cNvPr>
          <p:cNvSpPr/>
          <p:nvPr/>
        </p:nvSpPr>
        <p:spPr>
          <a:xfrm>
            <a:off x="920021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73" name="Text 60">
            <a:extLst>
              <a:ext uri="{FF2B5EF4-FFF2-40B4-BE49-F238E27FC236}">
                <a16:creationId xmlns:a16="http://schemas.microsoft.com/office/drawing/2014/main" id="{E22C10AF-BC76-BACD-2688-4CBC90DD050E}"/>
              </a:ext>
            </a:extLst>
          </p:cNvPr>
          <p:cNvSpPr/>
          <p:nvPr/>
        </p:nvSpPr>
        <p:spPr>
          <a:xfrm>
            <a:off x="920021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100.0 W</a:t>
            </a:r>
            <a:endParaRPr lang="en-US" sz="1700" dirty="0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5CC2DBDA-6A30-D713-0BFA-A561FE30F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32807" y="603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8572" y="859536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8572" y="9784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 • eMBB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06908" y="1280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Media-Flex: all ranked offers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908" y="25054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0.5, 0.2, 0.2, 0.1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06908" y="2816352"/>
            <a:ext cx="56692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38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0241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23644" y="2816352"/>
            <a:ext cx="111556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1773936" y="288950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9212" y="2816352"/>
            <a:ext cx="1225296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2889504" y="288950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4508" y="2816352"/>
            <a:ext cx="987552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114800" y="288950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52060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5102352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4748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035040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174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9677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" y="3200400"/>
            <a:ext cx="56692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57200" y="32735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738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41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</a:rPr>
              <a:t>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23644" y="3200400"/>
            <a:ext cx="111556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1773936" y="32735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9212" y="3200400"/>
            <a:ext cx="1225296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89504" y="32735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595.227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4508" y="3200400"/>
            <a:ext cx="987552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114800" y="32735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0.0407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52060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102352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34.478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4748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035040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9.701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174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9677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06908" y="358444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57200" y="36576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738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41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723644" y="358444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73936" y="36576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39212" y="358444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2889504" y="36576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543.789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064508" y="358444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4114800" y="36576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52060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5102352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68.579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84748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035040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74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69677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06908" y="396849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Text 58"/>
          <p:cNvSpPr/>
          <p:nvPr/>
        </p:nvSpPr>
        <p:spPr>
          <a:xfrm>
            <a:off x="457200" y="40416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738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241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723644" y="396849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773936" y="404164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0.454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839212" y="396849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2889504" y="40416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420.882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064508" y="396849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4114800" y="404164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52060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5102352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72.887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984748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035040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27.078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9174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72"/>
          <p:cNvSpPr/>
          <p:nvPr/>
        </p:nvSpPr>
        <p:spPr>
          <a:xfrm>
            <a:off x="69677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06908" y="435254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6" name="Text 74"/>
          <p:cNvSpPr/>
          <p:nvPr/>
        </p:nvSpPr>
        <p:spPr>
          <a:xfrm>
            <a:off x="457200" y="44256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738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241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2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723644" y="435254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773936" y="442569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0.323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839212" y="435254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2" name="Text 80"/>
          <p:cNvSpPr/>
          <p:nvPr/>
        </p:nvSpPr>
        <p:spPr>
          <a:xfrm>
            <a:off x="2889504" y="44256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230.971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064508" y="435254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4" name="Text 82"/>
          <p:cNvSpPr/>
          <p:nvPr/>
        </p:nvSpPr>
        <p:spPr>
          <a:xfrm>
            <a:off x="4114800" y="44256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0.106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052060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6" name="Text 84"/>
          <p:cNvSpPr/>
          <p:nvPr/>
        </p:nvSpPr>
        <p:spPr>
          <a:xfrm>
            <a:off x="5102352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44.824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984748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8" name="Text 86"/>
          <p:cNvSpPr/>
          <p:nvPr/>
        </p:nvSpPr>
        <p:spPr>
          <a:xfrm>
            <a:off x="6035040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174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90" name="Text 88"/>
          <p:cNvSpPr/>
          <p:nvPr/>
        </p:nvSpPr>
        <p:spPr>
          <a:xfrm>
            <a:off x="69677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115300" y="281635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325612" y="30723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325612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3  •  0.881</a:t>
            </a:r>
            <a:endParaRPr lang="en-US" sz="1650" dirty="0"/>
          </a:p>
        </p:txBody>
      </p:sp>
      <p:sp>
        <p:nvSpPr>
          <p:cNvPr id="160" name="Shape 5">
            <a:extLst>
              <a:ext uri="{FF2B5EF4-FFF2-40B4-BE49-F238E27FC236}">
                <a16:creationId xmlns:a16="http://schemas.microsoft.com/office/drawing/2014/main" id="{2B795FB3-B281-745C-69B6-F6C581CBB84F}"/>
              </a:ext>
            </a:extLst>
          </p:cNvPr>
          <p:cNvSpPr/>
          <p:nvPr/>
        </p:nvSpPr>
        <p:spPr>
          <a:xfrm>
            <a:off x="347472" y="175564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9212625A-505E-8C68-B4FD-C7FC5544E105}"/>
              </a:ext>
            </a:extLst>
          </p:cNvPr>
          <p:cNvSpPr/>
          <p:nvPr/>
        </p:nvSpPr>
        <p:spPr>
          <a:xfrm>
            <a:off x="530352" y="184708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pic>
        <p:nvPicPr>
          <p:cNvPr id="162" name="Picture 2">
            <a:extLst>
              <a:ext uri="{FF2B5EF4-FFF2-40B4-BE49-F238E27FC236}">
                <a16:creationId xmlns:a16="http://schemas.microsoft.com/office/drawing/2014/main" id="{ADAFBE51-1DDC-7BD7-8F5A-BF2D382B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56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Shape 2">
            <a:extLst>
              <a:ext uri="{FF2B5EF4-FFF2-40B4-BE49-F238E27FC236}">
                <a16:creationId xmlns:a16="http://schemas.microsoft.com/office/drawing/2014/main" id="{48FCA56F-87D7-6F39-2C65-0158ECA1887E}"/>
              </a:ext>
            </a:extLst>
          </p:cNvPr>
          <p:cNvSpPr/>
          <p:nvPr/>
        </p:nvSpPr>
        <p:spPr>
          <a:xfrm>
            <a:off x="3451860" y="1362456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rgbClr val="062DEC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F20F1-5C33-5C7E-8863-97166B46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43649A-440A-1686-D91B-61AAA77E6C74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3F6EE9A7-5FAE-425C-18B3-2BA4EB653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hape 18">
            <a:extLst>
              <a:ext uri="{FF2B5EF4-FFF2-40B4-BE49-F238E27FC236}">
                <a16:creationId xmlns:a16="http://schemas.microsoft.com/office/drawing/2014/main" id="{8720A4D1-C4FA-9E39-0033-F09F536CAE5D}"/>
              </a:ext>
            </a:extLst>
          </p:cNvPr>
          <p:cNvSpPr/>
          <p:nvPr/>
        </p:nvSpPr>
        <p:spPr>
          <a:xfrm>
            <a:off x="3415454" y="1921595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7367436-910B-4BE4-17F2-460634FFFB2B}"/>
              </a:ext>
            </a:extLst>
          </p:cNvPr>
          <p:cNvSpPr/>
          <p:nvPr/>
        </p:nvSpPr>
        <p:spPr>
          <a:xfrm>
            <a:off x="3525182" y="197188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B6F3EB6E-50E5-6953-D0CC-E9BADCE6CD7C}"/>
              </a:ext>
            </a:extLst>
          </p:cNvPr>
          <p:cNvSpPr/>
          <p:nvPr/>
        </p:nvSpPr>
        <p:spPr>
          <a:xfrm>
            <a:off x="5655734" y="1921595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026EF1E3-333D-9650-E509-C7744382DA61}"/>
              </a:ext>
            </a:extLst>
          </p:cNvPr>
          <p:cNvSpPr/>
          <p:nvPr/>
        </p:nvSpPr>
        <p:spPr>
          <a:xfrm>
            <a:off x="5765462" y="197188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5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EA2F181F-4D2E-4068-C437-B834378C36B2}"/>
              </a:ext>
            </a:extLst>
          </p:cNvPr>
          <p:cNvSpPr/>
          <p:nvPr/>
        </p:nvSpPr>
        <p:spPr>
          <a:xfrm>
            <a:off x="3415454" y="2305643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12CD90E4-B127-B446-7532-4B2CD24A53AE}"/>
              </a:ext>
            </a:extLst>
          </p:cNvPr>
          <p:cNvSpPr/>
          <p:nvPr/>
        </p:nvSpPr>
        <p:spPr>
          <a:xfrm>
            <a:off x="3525182" y="2425531"/>
            <a:ext cx="6234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MCS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D4A5B172-2627-8316-F450-5ABF968B510B}"/>
              </a:ext>
            </a:extLst>
          </p:cNvPr>
          <p:cNvSpPr/>
          <p:nvPr/>
        </p:nvSpPr>
        <p:spPr>
          <a:xfrm>
            <a:off x="5655734" y="2305643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18950988-D895-3955-D858-7061770A952B}"/>
              </a:ext>
            </a:extLst>
          </p:cNvPr>
          <p:cNvSpPr/>
          <p:nvPr/>
        </p:nvSpPr>
        <p:spPr>
          <a:xfrm>
            <a:off x="5765462" y="235593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18</a:t>
            </a:r>
            <a:endParaRPr lang="en-US" sz="11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18554228-7B32-9D12-F932-85BA16AE631D}"/>
              </a:ext>
            </a:extLst>
          </p:cNvPr>
          <p:cNvSpPr/>
          <p:nvPr/>
        </p:nvSpPr>
        <p:spPr>
          <a:xfrm>
            <a:off x="3415454" y="2689691"/>
            <a:ext cx="603504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C3AA5EC8-24BA-8372-39CF-989A0BB1AE45}"/>
              </a:ext>
            </a:extLst>
          </p:cNvPr>
          <p:cNvSpPr/>
          <p:nvPr/>
        </p:nvSpPr>
        <p:spPr>
          <a:xfrm>
            <a:off x="4391322" y="2854283"/>
            <a:ext cx="41583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latin typeface="Aptos" panose="020B0004020202020204" pitchFamily="34" charset="0"/>
              </a:rPr>
              <a:t>  Spec 3GPP TS 22.261 V20.6.0 (2026-03)</a:t>
            </a:r>
          </a:p>
          <a:p>
            <a:pPr algn="ctr"/>
            <a:endParaRPr lang="en-US" sz="1400" b="1" dirty="0">
              <a:latin typeface="Aptos" panose="020B0004020202020204" pitchFamily="34" charset="0"/>
            </a:endParaRPr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B2DA6A77-FFFB-1ADB-FD29-D20292144ED3}"/>
              </a:ext>
            </a:extLst>
          </p:cNvPr>
          <p:cNvSpPr/>
          <p:nvPr/>
        </p:nvSpPr>
        <p:spPr>
          <a:xfrm>
            <a:off x="3415454" y="3073739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1">
            <a:extLst>
              <a:ext uri="{FF2B5EF4-FFF2-40B4-BE49-F238E27FC236}">
                <a16:creationId xmlns:a16="http://schemas.microsoft.com/office/drawing/2014/main" id="{43A50B51-A676-6715-5E56-5488CAF0B834}"/>
              </a:ext>
            </a:extLst>
          </p:cNvPr>
          <p:cNvSpPr/>
          <p:nvPr/>
        </p:nvSpPr>
        <p:spPr>
          <a:xfrm>
            <a:off x="3525182" y="3124031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eMBB</a:t>
            </a:r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039BE3DF-132A-DFAB-0408-F3E92D8065F3}"/>
              </a:ext>
            </a:extLst>
          </p:cNvPr>
          <p:cNvSpPr/>
          <p:nvPr/>
        </p:nvSpPr>
        <p:spPr>
          <a:xfrm>
            <a:off x="5655734" y="3073739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Text 33">
            <a:extLst>
              <a:ext uri="{FF2B5EF4-FFF2-40B4-BE49-F238E27FC236}">
                <a16:creationId xmlns:a16="http://schemas.microsoft.com/office/drawing/2014/main" id="{6CFCBA82-D68B-C355-692A-383CE7ED14C8}"/>
              </a:ext>
            </a:extLst>
          </p:cNvPr>
          <p:cNvSpPr/>
          <p:nvPr/>
        </p:nvSpPr>
        <p:spPr>
          <a:xfrm>
            <a:off x="5765462" y="33617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Table 7.1-1- Rural macro</a:t>
            </a:r>
          </a:p>
          <a:p>
            <a:endParaRPr lang="en-US" dirty="0"/>
          </a:p>
          <a:p>
            <a:endParaRPr lang="en-US" sz="1100" dirty="0"/>
          </a:p>
        </p:txBody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826179D9-E542-6075-E252-C203D14A698C}"/>
              </a:ext>
            </a:extLst>
          </p:cNvPr>
          <p:cNvSpPr/>
          <p:nvPr/>
        </p:nvSpPr>
        <p:spPr>
          <a:xfrm>
            <a:off x="3415454" y="3457787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35">
            <a:extLst>
              <a:ext uri="{FF2B5EF4-FFF2-40B4-BE49-F238E27FC236}">
                <a16:creationId xmlns:a16="http://schemas.microsoft.com/office/drawing/2014/main" id="{42F452EF-5E46-21B7-DD2A-A280088828DA}"/>
              </a:ext>
            </a:extLst>
          </p:cNvPr>
          <p:cNvSpPr/>
          <p:nvPr/>
        </p:nvSpPr>
        <p:spPr>
          <a:xfrm>
            <a:off x="3515868" y="3578945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Data rate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FB39B7BF-E6AB-77D9-2A1F-11CC4DF58041}"/>
              </a:ext>
            </a:extLst>
          </p:cNvPr>
          <p:cNvSpPr/>
          <p:nvPr/>
        </p:nvSpPr>
        <p:spPr>
          <a:xfrm>
            <a:off x="5655734" y="345778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054A7981-FD17-6EA7-ADBB-C99E1EEEA9EB}"/>
              </a:ext>
            </a:extLst>
          </p:cNvPr>
          <p:cNvSpPr/>
          <p:nvPr/>
        </p:nvSpPr>
        <p:spPr>
          <a:xfrm>
            <a:off x="5765462" y="3508079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50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63A77079-454F-E7B6-7EB4-80F20CF24A8E}"/>
              </a:ext>
            </a:extLst>
          </p:cNvPr>
          <p:cNvSpPr/>
          <p:nvPr/>
        </p:nvSpPr>
        <p:spPr>
          <a:xfrm>
            <a:off x="3415454" y="3841835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6FB1802E-6D96-CD10-9FF4-7088ABC6D28E}"/>
              </a:ext>
            </a:extLst>
          </p:cNvPr>
          <p:cNvSpPr/>
          <p:nvPr/>
        </p:nvSpPr>
        <p:spPr>
          <a:xfrm>
            <a:off x="3525182" y="3892127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latin typeface="Aptos" panose="020B0004020202020204" pitchFamily="34" charset="0"/>
              </a:rPr>
              <a:t>URLLC</a:t>
            </a:r>
          </a:p>
        </p:txBody>
      </p:sp>
      <p:sp>
        <p:nvSpPr>
          <p:cNvPr id="87" name="Shape 40">
            <a:extLst>
              <a:ext uri="{FF2B5EF4-FFF2-40B4-BE49-F238E27FC236}">
                <a16:creationId xmlns:a16="http://schemas.microsoft.com/office/drawing/2014/main" id="{9FFD2505-D63F-6C43-0ADD-388B06119F64}"/>
              </a:ext>
            </a:extLst>
          </p:cNvPr>
          <p:cNvSpPr/>
          <p:nvPr/>
        </p:nvSpPr>
        <p:spPr>
          <a:xfrm>
            <a:off x="5655734" y="3841835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DF257837-4394-F0C4-FF42-D2275CC547B1}"/>
              </a:ext>
            </a:extLst>
          </p:cNvPr>
          <p:cNvSpPr/>
          <p:nvPr/>
        </p:nvSpPr>
        <p:spPr>
          <a:xfrm>
            <a:off x="5765462" y="3892127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7.2.3.2-1</a:t>
            </a:r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B3ACCD15-60C3-DF37-5CFB-CFF7903984F3}"/>
              </a:ext>
            </a:extLst>
          </p:cNvPr>
          <p:cNvSpPr/>
          <p:nvPr/>
        </p:nvSpPr>
        <p:spPr>
          <a:xfrm>
            <a:off x="3415454" y="4225883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D4427DC4-C592-7BDF-FBA7-BAE2F6CA4F92}"/>
              </a:ext>
            </a:extLst>
          </p:cNvPr>
          <p:cNvSpPr/>
          <p:nvPr/>
        </p:nvSpPr>
        <p:spPr>
          <a:xfrm>
            <a:off x="3525182" y="434407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mMTC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91" name="Shape 44">
            <a:extLst>
              <a:ext uri="{FF2B5EF4-FFF2-40B4-BE49-F238E27FC236}">
                <a16:creationId xmlns:a16="http://schemas.microsoft.com/office/drawing/2014/main" id="{A5D216E5-DC3F-8727-6DFF-356EACBE633F}"/>
              </a:ext>
            </a:extLst>
          </p:cNvPr>
          <p:cNvSpPr/>
          <p:nvPr/>
        </p:nvSpPr>
        <p:spPr>
          <a:xfrm>
            <a:off x="5655734" y="4225883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45">
            <a:extLst>
              <a:ext uri="{FF2B5EF4-FFF2-40B4-BE49-F238E27FC236}">
                <a16:creationId xmlns:a16="http://schemas.microsoft.com/office/drawing/2014/main" id="{17BF0474-3DD7-9D57-0832-1273590C1757}"/>
              </a:ext>
            </a:extLst>
          </p:cNvPr>
          <p:cNvSpPr/>
          <p:nvPr/>
        </p:nvSpPr>
        <p:spPr>
          <a:xfrm>
            <a:off x="5765462" y="4276175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latin typeface="Aptos" panose="020B0004020202020204" pitchFamily="34" charset="0"/>
              </a:rPr>
              <a:t>Table 7.5.2-1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AD476-AB71-A107-8266-7F72CF9365CF}"/>
              </a:ext>
            </a:extLst>
          </p:cNvPr>
          <p:cNvSpPr txBox="1"/>
          <p:nvPr/>
        </p:nvSpPr>
        <p:spPr>
          <a:xfrm>
            <a:off x="692912" y="1021618"/>
            <a:ext cx="610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Rural Macro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885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B48B-DF1C-4450-4EBA-A76F0AE6E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C963BB-223C-ACC6-21F8-0E763BE16F2B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31D2EF-F58C-1F68-CA53-EE47ABB05F30}"/>
              </a:ext>
            </a:extLst>
          </p:cNvPr>
          <p:cNvSpPr/>
          <p:nvPr/>
        </p:nvSpPr>
        <p:spPr>
          <a:xfrm>
            <a:off x="4811099" y="283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6FDB"/>
                </a:solidFill>
              </a:rPr>
              <a:t>TOPSIS Algorithm • eMBB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73CD64-C4A6-2818-0E28-9E6615D9ADAD}"/>
              </a:ext>
            </a:extLst>
          </p:cNvPr>
          <p:cNvSpPr/>
          <p:nvPr/>
        </p:nvSpPr>
        <p:spPr>
          <a:xfrm>
            <a:off x="50292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Media-Flex — best ranked offer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D38B295-FFF0-D911-2A17-6343AA94D626}"/>
              </a:ext>
            </a:extLst>
          </p:cNvPr>
          <p:cNvSpPr/>
          <p:nvPr/>
        </p:nvSpPr>
        <p:spPr>
          <a:xfrm>
            <a:off x="9098280" y="3474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DEEEFD-E41C-D140-7C69-527255010B32}"/>
              </a:ext>
            </a:extLst>
          </p:cNvPr>
          <p:cNvSpPr/>
          <p:nvPr/>
        </p:nvSpPr>
        <p:spPr>
          <a:xfrm>
            <a:off x="9189720" y="4572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F6FDB"/>
                </a:solidFill>
              </a:rPr>
              <a:t>slice = eMBB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899423-EA52-9602-E774-3AFC0045C897}"/>
              </a:ext>
            </a:extLst>
          </p:cNvPr>
          <p:cNvSpPr/>
          <p:nvPr/>
        </p:nvSpPr>
        <p:spPr>
          <a:xfrm>
            <a:off x="502920" y="120700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62E02B-6B67-097C-0FEF-9B1FF211EA64}"/>
              </a:ext>
            </a:extLst>
          </p:cNvPr>
          <p:cNvSpPr/>
          <p:nvPr/>
        </p:nvSpPr>
        <p:spPr>
          <a:xfrm>
            <a:off x="685800" y="12984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3B9F4C-A13D-811A-6316-886751286A35}"/>
              </a:ext>
            </a:extLst>
          </p:cNvPr>
          <p:cNvSpPr/>
          <p:nvPr/>
        </p:nvSpPr>
        <p:spPr>
          <a:xfrm>
            <a:off x="685800" y="19293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85E3433-AC7E-3ABC-ADFB-0935DAE05D06}"/>
              </a:ext>
            </a:extLst>
          </p:cNvPr>
          <p:cNvSpPr/>
          <p:nvPr/>
        </p:nvSpPr>
        <p:spPr>
          <a:xfrm>
            <a:off x="6858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0.6298</a:t>
            </a:r>
            <a:endParaRPr lang="en-US" sz="3100" dirty="0">
              <a:solidFill>
                <a:schemeClr val="accent1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4B38FA8-0F9D-2652-39CF-704FB59FB45E}"/>
              </a:ext>
            </a:extLst>
          </p:cNvPr>
          <p:cNvSpPr/>
          <p:nvPr/>
        </p:nvSpPr>
        <p:spPr>
          <a:xfrm>
            <a:off x="68580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8 • Feasible: true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06466B2-D57B-B214-2A13-E2690EF49FE1}"/>
              </a:ext>
            </a:extLst>
          </p:cNvPr>
          <p:cNvSpPr/>
          <p:nvPr/>
        </p:nvSpPr>
        <p:spPr>
          <a:xfrm>
            <a:off x="4617720" y="1938528"/>
            <a:ext cx="224028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D7F48EF-83D0-16FC-116E-DDD062084859}"/>
              </a:ext>
            </a:extLst>
          </p:cNvPr>
          <p:cNvSpPr/>
          <p:nvPr/>
        </p:nvSpPr>
        <p:spPr>
          <a:xfrm>
            <a:off x="4727448" y="19888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9A0BB44-633A-D434-41AE-CDB508D94944}"/>
              </a:ext>
            </a:extLst>
          </p:cNvPr>
          <p:cNvSpPr/>
          <p:nvPr/>
        </p:nvSpPr>
        <p:spPr>
          <a:xfrm>
            <a:off x="6858000" y="1938528"/>
            <a:ext cx="3794760" cy="384048"/>
          </a:xfrm>
          <a:prstGeom prst="rect">
            <a:avLst/>
          </a:prstGeom>
          <a:solidFill>
            <a:srgbClr val="2F6FD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6EB2F1A-0449-58C5-96FF-AB1AB5771687}"/>
              </a:ext>
            </a:extLst>
          </p:cNvPr>
          <p:cNvSpPr/>
          <p:nvPr/>
        </p:nvSpPr>
        <p:spPr>
          <a:xfrm>
            <a:off x="6967728" y="19888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C275A5-D303-64C1-8151-C381A90BC749}"/>
              </a:ext>
            </a:extLst>
          </p:cNvPr>
          <p:cNvSpPr/>
          <p:nvPr/>
        </p:nvSpPr>
        <p:spPr>
          <a:xfrm>
            <a:off x="4617720" y="23225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D99DE58-5C7D-D60E-A6BE-F4201354CF48}"/>
              </a:ext>
            </a:extLst>
          </p:cNvPr>
          <p:cNvSpPr/>
          <p:nvPr/>
        </p:nvSpPr>
        <p:spPr>
          <a:xfrm>
            <a:off x="4727448" y="23728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5C0EB73-F744-FB8A-36AC-3847749BC972}"/>
              </a:ext>
            </a:extLst>
          </p:cNvPr>
          <p:cNvSpPr/>
          <p:nvPr/>
        </p:nvSpPr>
        <p:spPr>
          <a:xfrm>
            <a:off x="6858000" y="23225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6190A92-8A7A-D08D-2581-006D3F248423}"/>
              </a:ext>
            </a:extLst>
          </p:cNvPr>
          <p:cNvSpPr/>
          <p:nvPr/>
        </p:nvSpPr>
        <p:spPr>
          <a:xfrm>
            <a:off x="6967728" y="23728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2047C7A-5C63-D599-24E3-82C1AB5DA66D}"/>
              </a:ext>
            </a:extLst>
          </p:cNvPr>
          <p:cNvSpPr/>
          <p:nvPr/>
        </p:nvSpPr>
        <p:spPr>
          <a:xfrm>
            <a:off x="4617720" y="27066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0DFD039-E896-2E54-FD64-3C3DD1D177BA}"/>
              </a:ext>
            </a:extLst>
          </p:cNvPr>
          <p:cNvSpPr/>
          <p:nvPr/>
        </p:nvSpPr>
        <p:spPr>
          <a:xfrm>
            <a:off x="4727448" y="27569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2C625A7-15BB-94AE-3489-D54AC4ED1521}"/>
              </a:ext>
            </a:extLst>
          </p:cNvPr>
          <p:cNvSpPr/>
          <p:nvPr/>
        </p:nvSpPr>
        <p:spPr>
          <a:xfrm>
            <a:off x="6858000" y="27066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F400CB0-6E22-A179-D403-D3BA413E2EAB}"/>
              </a:ext>
            </a:extLst>
          </p:cNvPr>
          <p:cNvSpPr/>
          <p:nvPr/>
        </p:nvSpPr>
        <p:spPr>
          <a:xfrm>
            <a:off x="6967728" y="27569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8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293B1B-104F-D51D-6D5E-3DAA05E0AB19}"/>
              </a:ext>
            </a:extLst>
          </p:cNvPr>
          <p:cNvSpPr/>
          <p:nvPr/>
        </p:nvSpPr>
        <p:spPr>
          <a:xfrm>
            <a:off x="4617720" y="30906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4BA6FBD-7600-91CD-78B1-3DB036634A81}"/>
              </a:ext>
            </a:extLst>
          </p:cNvPr>
          <p:cNvSpPr/>
          <p:nvPr/>
        </p:nvSpPr>
        <p:spPr>
          <a:xfrm>
            <a:off x="4727448" y="31409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85B9081-8241-2D53-E0A4-E0D72FC8BC59}"/>
              </a:ext>
            </a:extLst>
          </p:cNvPr>
          <p:cNvSpPr/>
          <p:nvPr/>
        </p:nvSpPr>
        <p:spPr>
          <a:xfrm>
            <a:off x="6858000" y="30906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3263CF1-FB66-E748-C78C-638023719FC9}"/>
              </a:ext>
            </a:extLst>
          </p:cNvPr>
          <p:cNvSpPr/>
          <p:nvPr/>
        </p:nvSpPr>
        <p:spPr>
          <a:xfrm>
            <a:off x="6967728" y="31409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0.6298</a:t>
            </a:r>
            <a:endParaRPr lang="en-US" sz="11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DB6D13A-2E5E-AE5C-59DE-E9CFF4FD204A}"/>
              </a:ext>
            </a:extLst>
          </p:cNvPr>
          <p:cNvSpPr/>
          <p:nvPr/>
        </p:nvSpPr>
        <p:spPr>
          <a:xfrm>
            <a:off x="4617720" y="34747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479BDEF-1D84-4850-A6D7-51B1FA4CAF5B}"/>
              </a:ext>
            </a:extLst>
          </p:cNvPr>
          <p:cNvSpPr/>
          <p:nvPr/>
        </p:nvSpPr>
        <p:spPr>
          <a:xfrm>
            <a:off x="4727448" y="35250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A29F556-0A03-5F1E-B426-46FEC5E70FE8}"/>
              </a:ext>
            </a:extLst>
          </p:cNvPr>
          <p:cNvSpPr/>
          <p:nvPr/>
        </p:nvSpPr>
        <p:spPr>
          <a:xfrm>
            <a:off x="6858000" y="34747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EDCFF0A-79A5-80B7-E816-97DB64286E28}"/>
              </a:ext>
            </a:extLst>
          </p:cNvPr>
          <p:cNvSpPr/>
          <p:nvPr/>
        </p:nvSpPr>
        <p:spPr>
          <a:xfrm>
            <a:off x="6967728" y="35250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301.5374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Mbps</a:t>
            </a:r>
            <a:endParaRPr lang="en-US" sz="11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05FDCD1-5073-4173-3DD2-7587AE50B49B}"/>
              </a:ext>
            </a:extLst>
          </p:cNvPr>
          <p:cNvSpPr/>
          <p:nvPr/>
        </p:nvSpPr>
        <p:spPr>
          <a:xfrm>
            <a:off x="4617720" y="38587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B767B1E3-1409-3447-9EDB-0C4B565060EC}"/>
              </a:ext>
            </a:extLst>
          </p:cNvPr>
          <p:cNvSpPr/>
          <p:nvPr/>
        </p:nvSpPr>
        <p:spPr>
          <a:xfrm>
            <a:off x="4727448" y="39090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D5DC4FE-A292-E42C-FD90-1DC199459C94}"/>
              </a:ext>
            </a:extLst>
          </p:cNvPr>
          <p:cNvSpPr/>
          <p:nvPr/>
        </p:nvSpPr>
        <p:spPr>
          <a:xfrm>
            <a:off x="6858000" y="38587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A3FD8CA-2815-838A-62B4-1414B0FA18F9}"/>
              </a:ext>
            </a:extLst>
          </p:cNvPr>
          <p:cNvSpPr/>
          <p:nvPr/>
        </p:nvSpPr>
        <p:spPr>
          <a:xfrm>
            <a:off x="6967728" y="39090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0.08095 ms</a:t>
            </a:r>
            <a:endParaRPr lang="en-US" sz="11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D4A26DE-BD37-E494-BFD8-B3A6BA8B6BDA}"/>
              </a:ext>
            </a:extLst>
          </p:cNvPr>
          <p:cNvSpPr/>
          <p:nvPr/>
        </p:nvSpPr>
        <p:spPr>
          <a:xfrm>
            <a:off x="4617720" y="42428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3ADFE6A-B3B7-9A36-BD4A-C3CC8A427F03}"/>
              </a:ext>
            </a:extLst>
          </p:cNvPr>
          <p:cNvSpPr/>
          <p:nvPr/>
        </p:nvSpPr>
        <p:spPr>
          <a:xfrm>
            <a:off x="4727448" y="42931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8266175-DCD5-4645-38B7-03858875BF06}"/>
              </a:ext>
            </a:extLst>
          </p:cNvPr>
          <p:cNvSpPr/>
          <p:nvPr/>
        </p:nvSpPr>
        <p:spPr>
          <a:xfrm>
            <a:off x="6858000" y="42428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0556438-8AC1-9B0E-C271-382797D4D727}"/>
              </a:ext>
            </a:extLst>
          </p:cNvPr>
          <p:cNvSpPr/>
          <p:nvPr/>
        </p:nvSpPr>
        <p:spPr>
          <a:xfrm>
            <a:off x="6967728" y="42931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r>
              <a:rPr lang="en-US" sz="11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64.339</a:t>
            </a:r>
            <a:endParaRPr lang="en-US" sz="11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C3E98AB-2F05-B2A3-D3AB-5F34A60A0439}"/>
              </a:ext>
            </a:extLst>
          </p:cNvPr>
          <p:cNvSpPr/>
          <p:nvPr/>
        </p:nvSpPr>
        <p:spPr>
          <a:xfrm>
            <a:off x="4617720" y="46268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BB323F99-BDB9-EE83-D55C-3AEADDFC90F8}"/>
              </a:ext>
            </a:extLst>
          </p:cNvPr>
          <p:cNvSpPr/>
          <p:nvPr/>
        </p:nvSpPr>
        <p:spPr>
          <a:xfrm>
            <a:off x="4727448" y="46771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5B70837-D6A4-342A-C0F1-673144E16283}"/>
              </a:ext>
            </a:extLst>
          </p:cNvPr>
          <p:cNvSpPr/>
          <p:nvPr/>
        </p:nvSpPr>
        <p:spPr>
          <a:xfrm>
            <a:off x="6858000" y="46268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31DD95F-7315-EDE5-636B-1CFBB0B78365}"/>
              </a:ext>
            </a:extLst>
          </p:cNvPr>
          <p:cNvSpPr/>
          <p:nvPr/>
        </p:nvSpPr>
        <p:spPr>
          <a:xfrm>
            <a:off x="6967728" y="46771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3.491 W</a:t>
            </a:r>
            <a:endParaRPr lang="en-US" sz="11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7B6D514-D2F6-5102-72AE-BB16FD402CCB}"/>
              </a:ext>
            </a:extLst>
          </p:cNvPr>
          <p:cNvSpPr/>
          <p:nvPr/>
        </p:nvSpPr>
        <p:spPr>
          <a:xfrm>
            <a:off x="4617720" y="50109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BB477775-4E21-5AF6-D10F-F1ACD6E3FBEF}"/>
              </a:ext>
            </a:extLst>
          </p:cNvPr>
          <p:cNvSpPr/>
          <p:nvPr/>
        </p:nvSpPr>
        <p:spPr>
          <a:xfrm>
            <a:off x="4727448" y="50612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FC9282BD-7E97-5F87-2C65-AA6FBC6FA22D}"/>
              </a:ext>
            </a:extLst>
          </p:cNvPr>
          <p:cNvSpPr/>
          <p:nvPr/>
        </p:nvSpPr>
        <p:spPr>
          <a:xfrm>
            <a:off x="6858000" y="50109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9AF065F-17A5-99F7-D62D-D481CEDC9895}"/>
              </a:ext>
            </a:extLst>
          </p:cNvPr>
          <p:cNvSpPr/>
          <p:nvPr/>
        </p:nvSpPr>
        <p:spPr>
          <a:xfrm>
            <a:off x="6967728" y="50612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62" name="Shape 49">
            <a:extLst>
              <a:ext uri="{FF2B5EF4-FFF2-40B4-BE49-F238E27FC236}">
                <a16:creationId xmlns:a16="http://schemas.microsoft.com/office/drawing/2014/main" id="{94A84250-6391-6563-49A4-3D44B066ECE6}"/>
              </a:ext>
            </a:extLst>
          </p:cNvPr>
          <p:cNvSpPr/>
          <p:nvPr/>
        </p:nvSpPr>
        <p:spPr>
          <a:xfrm>
            <a:off x="53170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>
            <a:extLst>
              <a:ext uri="{FF2B5EF4-FFF2-40B4-BE49-F238E27FC236}">
                <a16:creationId xmlns:a16="http://schemas.microsoft.com/office/drawing/2014/main" id="{FAC0D62E-60A0-876D-586D-49588482FAF4}"/>
              </a:ext>
            </a:extLst>
          </p:cNvPr>
          <p:cNvSpPr/>
          <p:nvPr/>
        </p:nvSpPr>
        <p:spPr>
          <a:xfrm>
            <a:off x="69629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64" name="Text 51">
            <a:extLst>
              <a:ext uri="{FF2B5EF4-FFF2-40B4-BE49-F238E27FC236}">
                <a16:creationId xmlns:a16="http://schemas.microsoft.com/office/drawing/2014/main" id="{938AD58A-868A-DC1A-82B1-F893C1AF8C89}"/>
              </a:ext>
            </a:extLst>
          </p:cNvPr>
          <p:cNvSpPr/>
          <p:nvPr/>
        </p:nvSpPr>
        <p:spPr>
          <a:xfrm>
            <a:off x="69629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60.0 Mbps</a:t>
            </a:r>
            <a:endParaRPr lang="en-US" sz="1700" dirty="0"/>
          </a:p>
        </p:txBody>
      </p:sp>
      <p:sp>
        <p:nvSpPr>
          <p:cNvPr id="65" name="Shape 52">
            <a:extLst>
              <a:ext uri="{FF2B5EF4-FFF2-40B4-BE49-F238E27FC236}">
                <a16:creationId xmlns:a16="http://schemas.microsoft.com/office/drawing/2014/main" id="{43FDFEA3-73F7-F725-9573-CCFAB4FFC2AB}"/>
              </a:ext>
            </a:extLst>
          </p:cNvPr>
          <p:cNvSpPr/>
          <p:nvPr/>
        </p:nvSpPr>
        <p:spPr>
          <a:xfrm>
            <a:off x="336634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3">
            <a:extLst>
              <a:ext uri="{FF2B5EF4-FFF2-40B4-BE49-F238E27FC236}">
                <a16:creationId xmlns:a16="http://schemas.microsoft.com/office/drawing/2014/main" id="{C642A476-CCCF-3FC8-155E-8905913CB154}"/>
              </a:ext>
            </a:extLst>
          </p:cNvPr>
          <p:cNvSpPr/>
          <p:nvPr/>
        </p:nvSpPr>
        <p:spPr>
          <a:xfrm>
            <a:off x="353093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7" name="Text 54">
            <a:extLst>
              <a:ext uri="{FF2B5EF4-FFF2-40B4-BE49-F238E27FC236}">
                <a16:creationId xmlns:a16="http://schemas.microsoft.com/office/drawing/2014/main" id="{9EEE1EB2-94B6-11B5-AEAA-FC9A778EC704}"/>
              </a:ext>
            </a:extLst>
          </p:cNvPr>
          <p:cNvSpPr/>
          <p:nvPr/>
        </p:nvSpPr>
        <p:spPr>
          <a:xfrm>
            <a:off x="353093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10.0 ms</a:t>
            </a:r>
            <a:endParaRPr lang="en-US" sz="1700" dirty="0"/>
          </a:p>
        </p:txBody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4BB4537A-1B6C-CC45-C7BA-A436FEC3AA0B}"/>
              </a:ext>
            </a:extLst>
          </p:cNvPr>
          <p:cNvSpPr/>
          <p:nvPr/>
        </p:nvSpPr>
        <p:spPr>
          <a:xfrm>
            <a:off x="620098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6">
            <a:extLst>
              <a:ext uri="{FF2B5EF4-FFF2-40B4-BE49-F238E27FC236}">
                <a16:creationId xmlns:a16="http://schemas.microsoft.com/office/drawing/2014/main" id="{916B4447-6672-F08A-45D4-13E9BB9E8D5F}"/>
              </a:ext>
            </a:extLst>
          </p:cNvPr>
          <p:cNvSpPr/>
          <p:nvPr/>
        </p:nvSpPr>
        <p:spPr>
          <a:xfrm>
            <a:off x="636557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381525DC-A98E-8C0A-55B8-1839AA389050}"/>
              </a:ext>
            </a:extLst>
          </p:cNvPr>
          <p:cNvSpPr/>
          <p:nvPr/>
        </p:nvSpPr>
        <p:spPr>
          <a:xfrm>
            <a:off x="636557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€200.0</a:t>
            </a:r>
            <a:endParaRPr lang="en-US" sz="1700" dirty="0"/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3CB8813-C80C-EB9C-0E25-79A89524C37E}"/>
              </a:ext>
            </a:extLst>
          </p:cNvPr>
          <p:cNvSpPr/>
          <p:nvPr/>
        </p:nvSpPr>
        <p:spPr>
          <a:xfrm>
            <a:off x="9035627" y="56327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59">
            <a:extLst>
              <a:ext uri="{FF2B5EF4-FFF2-40B4-BE49-F238E27FC236}">
                <a16:creationId xmlns:a16="http://schemas.microsoft.com/office/drawing/2014/main" id="{C7060382-E29B-B0AC-BB26-7FAE48559B84}"/>
              </a:ext>
            </a:extLst>
          </p:cNvPr>
          <p:cNvSpPr/>
          <p:nvPr/>
        </p:nvSpPr>
        <p:spPr>
          <a:xfrm>
            <a:off x="9200219" y="57424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73" name="Text 60">
            <a:extLst>
              <a:ext uri="{FF2B5EF4-FFF2-40B4-BE49-F238E27FC236}">
                <a16:creationId xmlns:a16="http://schemas.microsoft.com/office/drawing/2014/main" id="{EDB30722-1A43-D66F-B634-34218BD11415}"/>
              </a:ext>
            </a:extLst>
          </p:cNvPr>
          <p:cNvSpPr/>
          <p:nvPr/>
        </p:nvSpPr>
        <p:spPr>
          <a:xfrm>
            <a:off x="9200219" y="5961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FDB"/>
                </a:solidFill>
              </a:rPr>
              <a:t>100.0 W</a:t>
            </a:r>
            <a:endParaRPr lang="en-US" sz="1700" dirty="0"/>
          </a:p>
        </p:txBody>
      </p:sp>
      <p:pic>
        <p:nvPicPr>
          <p:cNvPr id="74" name="Picture 2">
            <a:extLst>
              <a:ext uri="{FF2B5EF4-FFF2-40B4-BE49-F238E27FC236}">
                <a16:creationId xmlns:a16="http://schemas.microsoft.com/office/drawing/2014/main" id="{C5FB4886-8644-F3C9-37DE-70C99149B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48" y="0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81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26AC-59B0-61CC-96F8-108F6EBD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6F119F-77BB-1980-C1AA-486BDF4C057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A9210A-0069-09BF-7444-F0EF0DCA58A2}"/>
              </a:ext>
            </a:extLst>
          </p:cNvPr>
          <p:cNvSpPr/>
          <p:nvPr/>
        </p:nvSpPr>
        <p:spPr>
          <a:xfrm>
            <a:off x="4632807" y="6035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1ED5664-C8DC-6FA3-2752-2DB28BDDEF25}"/>
              </a:ext>
            </a:extLst>
          </p:cNvPr>
          <p:cNvSpPr/>
          <p:nvPr/>
        </p:nvSpPr>
        <p:spPr>
          <a:xfrm>
            <a:off x="9148572" y="859536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7C0571-3DCC-6970-7517-DC3CF1911C4D}"/>
              </a:ext>
            </a:extLst>
          </p:cNvPr>
          <p:cNvSpPr/>
          <p:nvPr/>
        </p:nvSpPr>
        <p:spPr>
          <a:xfrm>
            <a:off x="9148572" y="9784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 • eMBB</a:t>
            </a:r>
            <a:endParaRPr lang="en-US" sz="10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5A2B8C-532F-48EF-3F3A-E53F41AEA2B8}"/>
              </a:ext>
            </a:extLst>
          </p:cNvPr>
          <p:cNvSpPr/>
          <p:nvPr/>
        </p:nvSpPr>
        <p:spPr>
          <a:xfrm>
            <a:off x="406908" y="1280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Media-Flex: all ranked offers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639777A-4038-1783-848F-3B5090D4B743}"/>
              </a:ext>
            </a:extLst>
          </p:cNvPr>
          <p:cNvSpPr/>
          <p:nvPr/>
        </p:nvSpPr>
        <p:spPr>
          <a:xfrm>
            <a:off x="406908" y="25054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0.5, 0.2, 0.2, 0.1</a:t>
            </a:r>
            <a:endParaRPr lang="en-US" sz="103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FFAC85C-D063-02E0-EE54-5A074F04F1CB}"/>
              </a:ext>
            </a:extLst>
          </p:cNvPr>
          <p:cNvSpPr/>
          <p:nvPr/>
        </p:nvSpPr>
        <p:spPr>
          <a:xfrm>
            <a:off x="406908" y="2816352"/>
            <a:ext cx="56692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B7E2A6-259D-69E0-C734-FD7CB87A11EA}"/>
              </a:ext>
            </a:extLst>
          </p:cNvPr>
          <p:cNvSpPr/>
          <p:nvPr/>
        </p:nvSpPr>
        <p:spPr>
          <a:xfrm>
            <a:off x="457200" y="288950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C34152-E1BA-24C4-B9DE-5AB534A874B5}"/>
              </a:ext>
            </a:extLst>
          </p:cNvPr>
          <p:cNvSpPr/>
          <p:nvPr/>
        </p:nvSpPr>
        <p:spPr>
          <a:xfrm>
            <a:off x="9738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FABD96-5F01-9E80-6AF3-B0834EF25B9D}"/>
              </a:ext>
            </a:extLst>
          </p:cNvPr>
          <p:cNvSpPr/>
          <p:nvPr/>
        </p:nvSpPr>
        <p:spPr>
          <a:xfrm>
            <a:off x="10241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3752D22-6380-6BE1-FC4D-3E5475085E81}"/>
              </a:ext>
            </a:extLst>
          </p:cNvPr>
          <p:cNvSpPr/>
          <p:nvPr/>
        </p:nvSpPr>
        <p:spPr>
          <a:xfrm>
            <a:off x="1723644" y="2816352"/>
            <a:ext cx="111556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286D4B-5FD6-3E3C-D706-C060E48B83FC}"/>
              </a:ext>
            </a:extLst>
          </p:cNvPr>
          <p:cNvSpPr/>
          <p:nvPr/>
        </p:nvSpPr>
        <p:spPr>
          <a:xfrm>
            <a:off x="1773936" y="288950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97EB429-C709-721E-9C9B-518C93307A78}"/>
              </a:ext>
            </a:extLst>
          </p:cNvPr>
          <p:cNvSpPr/>
          <p:nvPr/>
        </p:nvSpPr>
        <p:spPr>
          <a:xfrm>
            <a:off x="2839212" y="2816352"/>
            <a:ext cx="1225296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40150F-A613-5BA7-F8E2-8A614254962A}"/>
              </a:ext>
            </a:extLst>
          </p:cNvPr>
          <p:cNvSpPr/>
          <p:nvPr/>
        </p:nvSpPr>
        <p:spPr>
          <a:xfrm>
            <a:off x="2889504" y="288950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0355389-52CA-1C07-AB86-1DA947CEFD4F}"/>
              </a:ext>
            </a:extLst>
          </p:cNvPr>
          <p:cNvSpPr/>
          <p:nvPr/>
        </p:nvSpPr>
        <p:spPr>
          <a:xfrm>
            <a:off x="4064508" y="2816352"/>
            <a:ext cx="987552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8ECB52-098A-7033-19BE-1C5504256E8D}"/>
              </a:ext>
            </a:extLst>
          </p:cNvPr>
          <p:cNvSpPr/>
          <p:nvPr/>
        </p:nvSpPr>
        <p:spPr>
          <a:xfrm>
            <a:off x="4114800" y="288950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6D22967-20DE-617D-2885-347856590A89}"/>
              </a:ext>
            </a:extLst>
          </p:cNvPr>
          <p:cNvSpPr/>
          <p:nvPr/>
        </p:nvSpPr>
        <p:spPr>
          <a:xfrm>
            <a:off x="5052060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6B49045-24FB-398D-5331-7F725D2E704B}"/>
              </a:ext>
            </a:extLst>
          </p:cNvPr>
          <p:cNvSpPr/>
          <p:nvPr/>
        </p:nvSpPr>
        <p:spPr>
          <a:xfrm>
            <a:off x="5102352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94A98F8-327F-178F-61EF-62039902C199}"/>
              </a:ext>
            </a:extLst>
          </p:cNvPr>
          <p:cNvSpPr/>
          <p:nvPr/>
        </p:nvSpPr>
        <p:spPr>
          <a:xfrm>
            <a:off x="5984748" y="2816352"/>
            <a:ext cx="93268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DBEC70-E908-202D-2BE3-CE8F5AE0C422}"/>
              </a:ext>
            </a:extLst>
          </p:cNvPr>
          <p:cNvSpPr/>
          <p:nvPr/>
        </p:nvSpPr>
        <p:spPr>
          <a:xfrm>
            <a:off x="6035040" y="288950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7F0AEDA-2A05-AE1B-99C3-090DAA15687C}"/>
              </a:ext>
            </a:extLst>
          </p:cNvPr>
          <p:cNvSpPr/>
          <p:nvPr/>
        </p:nvSpPr>
        <p:spPr>
          <a:xfrm>
            <a:off x="6917436" y="2816352"/>
            <a:ext cx="749808" cy="384048"/>
          </a:xfrm>
          <a:prstGeom prst="rect">
            <a:avLst/>
          </a:prstGeom>
          <a:solidFill>
            <a:srgbClr val="2F6FD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31404C0-56DF-40E0-1E30-B8FA90F99547}"/>
              </a:ext>
            </a:extLst>
          </p:cNvPr>
          <p:cNvSpPr/>
          <p:nvPr/>
        </p:nvSpPr>
        <p:spPr>
          <a:xfrm>
            <a:off x="6967728" y="288950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7C120C-CF1B-01E7-8CCE-676539A8F984}"/>
              </a:ext>
            </a:extLst>
          </p:cNvPr>
          <p:cNvSpPr/>
          <p:nvPr/>
        </p:nvSpPr>
        <p:spPr>
          <a:xfrm>
            <a:off x="406908" y="3200400"/>
            <a:ext cx="56692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903E10B-4192-E553-F022-6D832E5DC8F3}"/>
              </a:ext>
            </a:extLst>
          </p:cNvPr>
          <p:cNvSpPr/>
          <p:nvPr/>
        </p:nvSpPr>
        <p:spPr>
          <a:xfrm>
            <a:off x="457200" y="32735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876D314-656F-BA35-AF53-6A94AECD6748}"/>
              </a:ext>
            </a:extLst>
          </p:cNvPr>
          <p:cNvSpPr/>
          <p:nvPr/>
        </p:nvSpPr>
        <p:spPr>
          <a:xfrm>
            <a:off x="9738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EC02004-64B1-08A4-8998-218FECEEE605}"/>
              </a:ext>
            </a:extLst>
          </p:cNvPr>
          <p:cNvSpPr/>
          <p:nvPr/>
        </p:nvSpPr>
        <p:spPr>
          <a:xfrm>
            <a:off x="10241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</a:rPr>
              <a:t>3</a:t>
            </a:r>
            <a:endParaRPr lang="en-US" sz="10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69FC30F-E392-0038-E3F3-DDE038952BAF}"/>
              </a:ext>
            </a:extLst>
          </p:cNvPr>
          <p:cNvSpPr/>
          <p:nvPr/>
        </p:nvSpPr>
        <p:spPr>
          <a:xfrm>
            <a:off x="1723644" y="3200400"/>
            <a:ext cx="111556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D4F80C3-79C9-33E5-2A8F-109BBF1921E9}"/>
              </a:ext>
            </a:extLst>
          </p:cNvPr>
          <p:cNvSpPr/>
          <p:nvPr/>
        </p:nvSpPr>
        <p:spPr>
          <a:xfrm>
            <a:off x="1773936" y="32735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0.629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178B199-36B1-C285-BF0E-C603E248F6A0}"/>
              </a:ext>
            </a:extLst>
          </p:cNvPr>
          <p:cNvSpPr/>
          <p:nvPr/>
        </p:nvSpPr>
        <p:spPr>
          <a:xfrm>
            <a:off x="2839212" y="3200400"/>
            <a:ext cx="1225296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1398049-0CF6-FF10-0FA3-406332C7F629}"/>
              </a:ext>
            </a:extLst>
          </p:cNvPr>
          <p:cNvSpPr/>
          <p:nvPr/>
        </p:nvSpPr>
        <p:spPr>
          <a:xfrm>
            <a:off x="2889504" y="32735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301.537</a:t>
            </a:r>
            <a:endParaRPr lang="en-US" sz="10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0847B75-9DBC-A6AA-C140-11EA20EDE568}"/>
              </a:ext>
            </a:extLst>
          </p:cNvPr>
          <p:cNvSpPr/>
          <p:nvPr/>
        </p:nvSpPr>
        <p:spPr>
          <a:xfrm>
            <a:off x="4064508" y="3200400"/>
            <a:ext cx="987552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5BE5AAA-3273-5172-45AE-E34D92D10FB1}"/>
              </a:ext>
            </a:extLst>
          </p:cNvPr>
          <p:cNvSpPr/>
          <p:nvPr/>
        </p:nvSpPr>
        <p:spPr>
          <a:xfrm>
            <a:off x="4114800" y="32735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0.0809</a:t>
            </a:r>
            <a:endParaRPr lang="en-US" sz="10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3333C8A-833F-0549-BEE2-E48D460FA19E}"/>
              </a:ext>
            </a:extLst>
          </p:cNvPr>
          <p:cNvSpPr/>
          <p:nvPr/>
        </p:nvSpPr>
        <p:spPr>
          <a:xfrm>
            <a:off x="5052060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3FC5053-588B-B5F7-51B0-3A1033C8D9FF}"/>
              </a:ext>
            </a:extLst>
          </p:cNvPr>
          <p:cNvSpPr/>
          <p:nvPr/>
        </p:nvSpPr>
        <p:spPr>
          <a:xfrm>
            <a:off x="5102352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64.339</a:t>
            </a:r>
            <a:endParaRPr lang="en-US" sz="10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3C28451-3513-2336-3355-6EB7B149D2C1}"/>
              </a:ext>
            </a:extLst>
          </p:cNvPr>
          <p:cNvSpPr/>
          <p:nvPr/>
        </p:nvSpPr>
        <p:spPr>
          <a:xfrm>
            <a:off x="5984748" y="3200400"/>
            <a:ext cx="93268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F661636-661E-5C69-7AC1-A4B298E14C3A}"/>
              </a:ext>
            </a:extLst>
          </p:cNvPr>
          <p:cNvSpPr/>
          <p:nvPr/>
        </p:nvSpPr>
        <p:spPr>
          <a:xfrm>
            <a:off x="6035040" y="32735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3.491</a:t>
            </a:r>
            <a:endParaRPr lang="en-US" sz="10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80B096D8-4629-D81F-C506-13F3F858A71A}"/>
              </a:ext>
            </a:extLst>
          </p:cNvPr>
          <p:cNvSpPr/>
          <p:nvPr/>
        </p:nvSpPr>
        <p:spPr>
          <a:xfrm>
            <a:off x="6917436" y="3200400"/>
            <a:ext cx="749808" cy="384048"/>
          </a:xfrm>
          <a:prstGeom prst="rect">
            <a:avLst/>
          </a:prstGeom>
          <a:solidFill>
            <a:srgbClr val="EAF2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B949C78-A881-AE43-FCF4-A4830EE21A5E}"/>
              </a:ext>
            </a:extLst>
          </p:cNvPr>
          <p:cNvSpPr/>
          <p:nvPr/>
        </p:nvSpPr>
        <p:spPr>
          <a:xfrm>
            <a:off x="6967728" y="32735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B58CC0D-1556-1E40-6529-41F2CA27FDD2}"/>
              </a:ext>
            </a:extLst>
          </p:cNvPr>
          <p:cNvSpPr/>
          <p:nvPr/>
        </p:nvSpPr>
        <p:spPr>
          <a:xfrm>
            <a:off x="406908" y="358444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2A7FFD7-04B2-0C22-3DFF-37DDB66EAE21}"/>
              </a:ext>
            </a:extLst>
          </p:cNvPr>
          <p:cNvSpPr/>
          <p:nvPr/>
        </p:nvSpPr>
        <p:spPr>
          <a:xfrm>
            <a:off x="457200" y="36576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517B37B-9935-9210-4130-BCE91E60FA39}"/>
              </a:ext>
            </a:extLst>
          </p:cNvPr>
          <p:cNvSpPr/>
          <p:nvPr/>
        </p:nvSpPr>
        <p:spPr>
          <a:xfrm>
            <a:off x="9738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7533B8A-E40E-8461-1FB5-4A422FC85129}"/>
              </a:ext>
            </a:extLst>
          </p:cNvPr>
          <p:cNvSpPr/>
          <p:nvPr/>
        </p:nvSpPr>
        <p:spPr>
          <a:xfrm>
            <a:off x="10241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8888A4E-DC03-4A88-4A1F-6FB9989D9CE7}"/>
              </a:ext>
            </a:extLst>
          </p:cNvPr>
          <p:cNvSpPr/>
          <p:nvPr/>
        </p:nvSpPr>
        <p:spPr>
          <a:xfrm>
            <a:off x="1723644" y="358444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B05A196-FA39-5B2B-8AFC-47093504C92D}"/>
              </a:ext>
            </a:extLst>
          </p:cNvPr>
          <p:cNvSpPr/>
          <p:nvPr/>
        </p:nvSpPr>
        <p:spPr>
          <a:xfrm>
            <a:off x="1773936" y="365760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0.553</a:t>
            </a:r>
            <a:endParaRPr lang="en-US" sz="10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3E0DF27-DF9F-D1D1-C029-3CED25B0D73B}"/>
              </a:ext>
            </a:extLst>
          </p:cNvPr>
          <p:cNvSpPr/>
          <p:nvPr/>
        </p:nvSpPr>
        <p:spPr>
          <a:xfrm>
            <a:off x="2839212" y="358444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BD35952-6EBC-9453-9F96-1A3B90A24786}"/>
              </a:ext>
            </a:extLst>
          </p:cNvPr>
          <p:cNvSpPr/>
          <p:nvPr/>
        </p:nvSpPr>
        <p:spPr>
          <a:xfrm>
            <a:off x="2889504" y="365760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199.167</a:t>
            </a:r>
            <a:endParaRPr lang="en-US" sz="10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E2E198A-D31A-27E9-7A80-E650BAA1940B}"/>
              </a:ext>
            </a:extLst>
          </p:cNvPr>
          <p:cNvSpPr/>
          <p:nvPr/>
        </p:nvSpPr>
        <p:spPr>
          <a:xfrm>
            <a:off x="4064508" y="358444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1C4CD84-D1E5-692E-7840-54F4DF2CA349}"/>
              </a:ext>
            </a:extLst>
          </p:cNvPr>
          <p:cNvSpPr/>
          <p:nvPr/>
        </p:nvSpPr>
        <p:spPr>
          <a:xfrm>
            <a:off x="4114800" y="36576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0.123</a:t>
            </a:r>
            <a:endParaRPr lang="en-US" sz="105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90ED7BAF-FC08-6472-D775-9743BE8B83BE}"/>
              </a:ext>
            </a:extLst>
          </p:cNvPr>
          <p:cNvSpPr/>
          <p:nvPr/>
        </p:nvSpPr>
        <p:spPr>
          <a:xfrm>
            <a:off x="5052060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25D17ED0-D27A-9C0B-E785-C7296360FBAF}"/>
              </a:ext>
            </a:extLst>
          </p:cNvPr>
          <p:cNvSpPr/>
          <p:nvPr/>
        </p:nvSpPr>
        <p:spPr>
          <a:xfrm>
            <a:off x="5102352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3.167</a:t>
            </a:r>
            <a:endParaRPr lang="en-US" sz="10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C5EE4F3-0B1E-AF7F-7861-78FC24B73B8E}"/>
              </a:ext>
            </a:extLst>
          </p:cNvPr>
          <p:cNvSpPr/>
          <p:nvPr/>
        </p:nvSpPr>
        <p:spPr>
          <a:xfrm>
            <a:off x="5984748" y="358444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83FDAC4-3284-E1CE-2425-173B4E7987D5}"/>
              </a:ext>
            </a:extLst>
          </p:cNvPr>
          <p:cNvSpPr/>
          <p:nvPr/>
        </p:nvSpPr>
        <p:spPr>
          <a:xfrm>
            <a:off x="6035040" y="36576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3.491</a:t>
            </a:r>
            <a:endParaRPr lang="en-US" sz="10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F363233-20DF-0A09-E5F4-B82FED0E6605}"/>
              </a:ext>
            </a:extLst>
          </p:cNvPr>
          <p:cNvSpPr/>
          <p:nvPr/>
        </p:nvSpPr>
        <p:spPr>
          <a:xfrm>
            <a:off x="6917436" y="358444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6F95047-3DA2-F57E-75B1-2F438AEA35C9}"/>
              </a:ext>
            </a:extLst>
          </p:cNvPr>
          <p:cNvSpPr/>
          <p:nvPr/>
        </p:nvSpPr>
        <p:spPr>
          <a:xfrm>
            <a:off x="6967728" y="36576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44D883BA-287E-7B67-E2F3-4E0480CF3554}"/>
              </a:ext>
            </a:extLst>
          </p:cNvPr>
          <p:cNvSpPr/>
          <p:nvPr/>
        </p:nvSpPr>
        <p:spPr>
          <a:xfrm>
            <a:off x="406908" y="396849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D7C6A7AA-6052-1A6A-B577-FA91D4DFBA19}"/>
              </a:ext>
            </a:extLst>
          </p:cNvPr>
          <p:cNvSpPr/>
          <p:nvPr/>
        </p:nvSpPr>
        <p:spPr>
          <a:xfrm>
            <a:off x="457200" y="40416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63E71D9E-5F83-1186-560D-517E8F124A6A}"/>
              </a:ext>
            </a:extLst>
          </p:cNvPr>
          <p:cNvSpPr/>
          <p:nvPr/>
        </p:nvSpPr>
        <p:spPr>
          <a:xfrm>
            <a:off x="9738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92BDE45-5C7C-3E6A-3047-56B8D3126C39}"/>
              </a:ext>
            </a:extLst>
          </p:cNvPr>
          <p:cNvSpPr/>
          <p:nvPr/>
        </p:nvSpPr>
        <p:spPr>
          <a:xfrm>
            <a:off x="10241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1EFB06A1-F301-124D-3E60-2E338C667262}"/>
              </a:ext>
            </a:extLst>
          </p:cNvPr>
          <p:cNvSpPr/>
          <p:nvPr/>
        </p:nvSpPr>
        <p:spPr>
          <a:xfrm>
            <a:off x="1723644" y="396849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3119196E-5037-36CF-E85E-98862E8B602D}"/>
              </a:ext>
            </a:extLst>
          </p:cNvPr>
          <p:cNvSpPr/>
          <p:nvPr/>
        </p:nvSpPr>
        <p:spPr>
          <a:xfrm>
            <a:off x="1773936" y="404164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0.315</a:t>
            </a:r>
            <a:endParaRPr lang="en-US" sz="10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5E7358EE-30B0-1B1C-9A74-DC97F6268A4C}"/>
              </a:ext>
            </a:extLst>
          </p:cNvPr>
          <p:cNvSpPr/>
          <p:nvPr/>
        </p:nvSpPr>
        <p:spPr>
          <a:xfrm>
            <a:off x="2839212" y="396849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295832F7-CD39-1260-8ECF-9DBB059C7AA2}"/>
              </a:ext>
            </a:extLst>
          </p:cNvPr>
          <p:cNvSpPr/>
          <p:nvPr/>
        </p:nvSpPr>
        <p:spPr>
          <a:xfrm>
            <a:off x="2889504" y="40416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199.167</a:t>
            </a:r>
            <a:endParaRPr lang="en-US" sz="105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FC5607E-D09B-FD6F-AC22-13251BEF2DE5}"/>
              </a:ext>
            </a:extLst>
          </p:cNvPr>
          <p:cNvSpPr/>
          <p:nvPr/>
        </p:nvSpPr>
        <p:spPr>
          <a:xfrm>
            <a:off x="4064508" y="396849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0C764774-FB68-D577-3D8D-27F8919B2EF3}"/>
              </a:ext>
            </a:extLst>
          </p:cNvPr>
          <p:cNvSpPr/>
          <p:nvPr/>
        </p:nvSpPr>
        <p:spPr>
          <a:xfrm>
            <a:off x="4114800" y="404164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0.123</a:t>
            </a:r>
            <a:endParaRPr lang="en-US" sz="105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D62FF57-36B3-A9FC-B0C9-DDF65FDFB885}"/>
              </a:ext>
            </a:extLst>
          </p:cNvPr>
          <p:cNvSpPr/>
          <p:nvPr/>
        </p:nvSpPr>
        <p:spPr>
          <a:xfrm>
            <a:off x="5052060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5D3D148E-EEDD-F476-BB36-F4F6D65A1E68}"/>
              </a:ext>
            </a:extLst>
          </p:cNvPr>
          <p:cNvSpPr/>
          <p:nvPr/>
        </p:nvSpPr>
        <p:spPr>
          <a:xfrm>
            <a:off x="5102352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58.931</a:t>
            </a:r>
            <a:endParaRPr lang="en-US" sz="105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7FC72DA-EA19-AF6D-FA4B-2E3687700A26}"/>
              </a:ext>
            </a:extLst>
          </p:cNvPr>
          <p:cNvSpPr/>
          <p:nvPr/>
        </p:nvSpPr>
        <p:spPr>
          <a:xfrm>
            <a:off x="5984748" y="396849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0CACD94E-E5EE-739A-8138-6E2936F660E2}"/>
              </a:ext>
            </a:extLst>
          </p:cNvPr>
          <p:cNvSpPr/>
          <p:nvPr/>
        </p:nvSpPr>
        <p:spPr>
          <a:xfrm>
            <a:off x="6035040" y="40416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Consolas" panose="020B0609020204030204" pitchFamily="49" charset="0"/>
              </a:rPr>
              <a:t>3.491</a:t>
            </a:r>
            <a:endParaRPr lang="en-US" sz="105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C5101AB-4F9A-751F-3A23-61AA73178DFB}"/>
              </a:ext>
            </a:extLst>
          </p:cNvPr>
          <p:cNvSpPr/>
          <p:nvPr/>
        </p:nvSpPr>
        <p:spPr>
          <a:xfrm>
            <a:off x="6917436" y="396849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82B6A59-36DE-F4A9-66BB-41ABA2A5A22E}"/>
              </a:ext>
            </a:extLst>
          </p:cNvPr>
          <p:cNvSpPr/>
          <p:nvPr/>
        </p:nvSpPr>
        <p:spPr>
          <a:xfrm>
            <a:off x="6967728" y="40416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51A1B4A3-2A83-C84C-A1CE-1B3A93AD4CEE}"/>
              </a:ext>
            </a:extLst>
          </p:cNvPr>
          <p:cNvSpPr/>
          <p:nvPr/>
        </p:nvSpPr>
        <p:spPr>
          <a:xfrm>
            <a:off x="406908" y="435254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3EE54B32-73C5-F9C4-A4C5-EA2C2A80FED0}"/>
              </a:ext>
            </a:extLst>
          </p:cNvPr>
          <p:cNvSpPr/>
          <p:nvPr/>
        </p:nvSpPr>
        <p:spPr>
          <a:xfrm>
            <a:off x="457200" y="44256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05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5F7FA1AD-76AB-B85B-5BC3-AA52D8F7614A}"/>
              </a:ext>
            </a:extLst>
          </p:cNvPr>
          <p:cNvSpPr/>
          <p:nvPr/>
        </p:nvSpPr>
        <p:spPr>
          <a:xfrm>
            <a:off x="9738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3878C04E-1481-6C39-AE81-EB0A1DD98B15}"/>
              </a:ext>
            </a:extLst>
          </p:cNvPr>
          <p:cNvSpPr/>
          <p:nvPr/>
        </p:nvSpPr>
        <p:spPr>
          <a:xfrm>
            <a:off x="10241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5</a:t>
            </a:r>
            <a:endParaRPr lang="en-US" sz="105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4117DE9C-512E-1F78-A1A2-BFD468F6BBBA}"/>
              </a:ext>
            </a:extLst>
          </p:cNvPr>
          <p:cNvSpPr/>
          <p:nvPr/>
        </p:nvSpPr>
        <p:spPr>
          <a:xfrm>
            <a:off x="1723644" y="435254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391FC7F9-CEFC-7D21-40D6-3119370BAEBA}"/>
              </a:ext>
            </a:extLst>
          </p:cNvPr>
          <p:cNvSpPr/>
          <p:nvPr/>
        </p:nvSpPr>
        <p:spPr>
          <a:xfrm>
            <a:off x="1773936" y="4425696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802814CE-E879-D831-AA09-B48F5FE288E9}"/>
              </a:ext>
            </a:extLst>
          </p:cNvPr>
          <p:cNvSpPr/>
          <p:nvPr/>
        </p:nvSpPr>
        <p:spPr>
          <a:xfrm>
            <a:off x="2839212" y="435254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71FF9E28-A7FA-B66C-F346-8201B20F6EA8}"/>
              </a:ext>
            </a:extLst>
          </p:cNvPr>
          <p:cNvSpPr/>
          <p:nvPr/>
        </p:nvSpPr>
        <p:spPr>
          <a:xfrm>
            <a:off x="2889504" y="44256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175.762</a:t>
            </a:r>
            <a:endParaRPr lang="en-US" sz="105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3CAFC11A-5CAA-0E32-C091-0A81FCA6E17C}"/>
              </a:ext>
            </a:extLst>
          </p:cNvPr>
          <p:cNvSpPr/>
          <p:nvPr/>
        </p:nvSpPr>
        <p:spPr>
          <a:xfrm>
            <a:off x="4064508" y="435254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82A8431A-6CBE-81FE-6AAB-60E8841E09E0}"/>
              </a:ext>
            </a:extLst>
          </p:cNvPr>
          <p:cNvSpPr/>
          <p:nvPr/>
        </p:nvSpPr>
        <p:spPr>
          <a:xfrm>
            <a:off x="4114800" y="44256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0.140</a:t>
            </a:r>
            <a:endParaRPr lang="en-US" sz="105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BC8E65F-349D-5A93-7093-2578367B3025}"/>
              </a:ext>
            </a:extLst>
          </p:cNvPr>
          <p:cNvSpPr/>
          <p:nvPr/>
        </p:nvSpPr>
        <p:spPr>
          <a:xfrm>
            <a:off x="5052060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C3A04598-13A1-BF54-196E-78C621001BF9}"/>
              </a:ext>
            </a:extLst>
          </p:cNvPr>
          <p:cNvSpPr/>
          <p:nvPr/>
        </p:nvSpPr>
        <p:spPr>
          <a:xfrm>
            <a:off x="5102352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98.87</a:t>
            </a:r>
            <a:endParaRPr lang="en-US" sz="105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C179958C-A0F5-A5C1-3AC2-F60DA1703A07}"/>
              </a:ext>
            </a:extLst>
          </p:cNvPr>
          <p:cNvSpPr/>
          <p:nvPr/>
        </p:nvSpPr>
        <p:spPr>
          <a:xfrm>
            <a:off x="5984748" y="435254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2A583D9-3AF9-B6FE-60AA-B00DA95DC0C7}"/>
              </a:ext>
            </a:extLst>
          </p:cNvPr>
          <p:cNvSpPr/>
          <p:nvPr/>
        </p:nvSpPr>
        <p:spPr>
          <a:xfrm>
            <a:off x="6035040" y="44256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3.941</a:t>
            </a:r>
            <a:endParaRPr lang="en-US" sz="105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7B49835A-1DC1-F9F5-9314-AAB568687998}"/>
              </a:ext>
            </a:extLst>
          </p:cNvPr>
          <p:cNvSpPr/>
          <p:nvPr/>
        </p:nvSpPr>
        <p:spPr>
          <a:xfrm>
            <a:off x="6917436" y="435254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E8353360-67E2-687E-211F-6C1A329472F7}"/>
              </a:ext>
            </a:extLst>
          </p:cNvPr>
          <p:cNvSpPr/>
          <p:nvPr/>
        </p:nvSpPr>
        <p:spPr>
          <a:xfrm>
            <a:off x="6967728" y="44256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50" dirty="0"/>
          </a:p>
        </p:txBody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C2A6C254-870F-595F-EA2E-1287C7C766A0}"/>
              </a:ext>
            </a:extLst>
          </p:cNvPr>
          <p:cNvSpPr/>
          <p:nvPr/>
        </p:nvSpPr>
        <p:spPr>
          <a:xfrm>
            <a:off x="8115300" y="281635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>
            <a:extLst>
              <a:ext uri="{FF2B5EF4-FFF2-40B4-BE49-F238E27FC236}">
                <a16:creationId xmlns:a16="http://schemas.microsoft.com/office/drawing/2014/main" id="{A8DEC72A-0F45-B918-18F6-6E41C39B946A}"/>
              </a:ext>
            </a:extLst>
          </p:cNvPr>
          <p:cNvSpPr/>
          <p:nvPr/>
        </p:nvSpPr>
        <p:spPr>
          <a:xfrm>
            <a:off x="8325612" y="30723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2F6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>
            <a:extLst>
              <a:ext uri="{FF2B5EF4-FFF2-40B4-BE49-F238E27FC236}">
                <a16:creationId xmlns:a16="http://schemas.microsoft.com/office/drawing/2014/main" id="{E2C7FEA2-C3A3-B347-669F-7BCAAC883D96}"/>
              </a:ext>
            </a:extLst>
          </p:cNvPr>
          <p:cNvSpPr/>
          <p:nvPr/>
        </p:nvSpPr>
        <p:spPr>
          <a:xfrm>
            <a:off x="8325612" y="3410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3  •  0.629</a:t>
            </a:r>
            <a:endParaRPr lang="en-US" sz="1650" dirty="0"/>
          </a:p>
        </p:txBody>
      </p:sp>
      <p:sp>
        <p:nvSpPr>
          <p:cNvPr id="160" name="Shape 5">
            <a:extLst>
              <a:ext uri="{FF2B5EF4-FFF2-40B4-BE49-F238E27FC236}">
                <a16:creationId xmlns:a16="http://schemas.microsoft.com/office/drawing/2014/main" id="{DCCC2B31-A93F-AD1E-0E83-A2F7342F855C}"/>
              </a:ext>
            </a:extLst>
          </p:cNvPr>
          <p:cNvSpPr/>
          <p:nvPr/>
        </p:nvSpPr>
        <p:spPr>
          <a:xfrm>
            <a:off x="347472" y="1755648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6">
            <a:extLst>
              <a:ext uri="{FF2B5EF4-FFF2-40B4-BE49-F238E27FC236}">
                <a16:creationId xmlns:a16="http://schemas.microsoft.com/office/drawing/2014/main" id="{FF331588-95C2-F889-8DAF-71F40F15F706}"/>
              </a:ext>
            </a:extLst>
          </p:cNvPr>
          <p:cNvSpPr/>
          <p:nvPr/>
        </p:nvSpPr>
        <p:spPr>
          <a:xfrm>
            <a:off x="530352" y="184708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2F6FDB"/>
                </a:solidFill>
              </a:rPr>
              <a:t>User Intent: User wants a media-oriented eMBB slice with high throughput (≥ 60) while respecting latency (≤ 10), cost (≤ 200), and energy (≤ 100) limits.</a:t>
            </a:r>
            <a:endParaRPr lang="en-US" sz="1180" dirty="0"/>
          </a:p>
        </p:txBody>
      </p:sp>
      <p:pic>
        <p:nvPicPr>
          <p:cNvPr id="162" name="Picture 2">
            <a:extLst>
              <a:ext uri="{FF2B5EF4-FFF2-40B4-BE49-F238E27FC236}">
                <a16:creationId xmlns:a16="http://schemas.microsoft.com/office/drawing/2014/main" id="{B5A225E7-E893-DFEB-052A-1F15825D2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56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Shape 2">
            <a:extLst>
              <a:ext uri="{FF2B5EF4-FFF2-40B4-BE49-F238E27FC236}">
                <a16:creationId xmlns:a16="http://schemas.microsoft.com/office/drawing/2014/main" id="{69ECC6D4-57B3-8E23-8951-3BF848BFE8AE}"/>
              </a:ext>
            </a:extLst>
          </p:cNvPr>
          <p:cNvSpPr/>
          <p:nvPr/>
        </p:nvSpPr>
        <p:spPr>
          <a:xfrm>
            <a:off x="3451860" y="1362456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EAF2FF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rgbClr val="062DEC"/>
                </a:solidFill>
                <a:latin typeface="Aptos" panose="020B0004020202020204" pitchFamily="34" charset="0"/>
              </a:rPr>
              <a:t> MCS:18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0196A2-780B-1E1C-0B82-E7AF136C5298}"/>
              </a:ext>
            </a:extLst>
          </p:cNvPr>
          <p:cNvSpPr txBox="1"/>
          <p:nvPr/>
        </p:nvSpPr>
        <p:spPr>
          <a:xfrm>
            <a:off x="5177367" y="32433"/>
            <a:ext cx="610446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</p:txBody>
      </p:sp>
    </p:spTree>
    <p:extLst>
      <p:ext uri="{BB962C8B-B14F-4D97-AF65-F5344CB8AC3E}">
        <p14:creationId xmlns:p14="http://schemas.microsoft.com/office/powerpoint/2010/main" val="185102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5" y="-5618"/>
            <a:ext cx="12204344" cy="12676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65497" y="520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TOPSIS Algorithm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625" y="97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Factory-Ops — best ranked offer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869985" y="6776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425" y="7874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</a:rPr>
              <a:t>slice = URLLC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624" y="1500632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505" y="16286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505" y="2259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505" y="2497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0.9568</a:t>
            </a:r>
            <a:endParaRPr lang="en-US" sz="3100" dirty="0">
              <a:solidFill>
                <a:srgbClr val="C0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505" y="310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3 • Feasible: true</a:t>
            </a:r>
            <a:endParaRPr lang="en-US" sz="13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76D72182-A65A-B319-E573-43EEC42A7B3A}"/>
              </a:ext>
            </a:extLst>
          </p:cNvPr>
          <p:cNvSpPr/>
          <p:nvPr/>
        </p:nvSpPr>
        <p:spPr>
          <a:xfrm>
            <a:off x="27462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C12DEB41-AD27-803D-0DC6-F93E75B2C710}"/>
              </a:ext>
            </a:extLst>
          </p:cNvPr>
          <p:cNvSpPr/>
          <p:nvPr/>
        </p:nvSpPr>
        <p:spPr>
          <a:xfrm>
            <a:off x="43921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B853FC1C-C3E6-D885-9D97-EA0B333FF50B}"/>
              </a:ext>
            </a:extLst>
          </p:cNvPr>
          <p:cNvSpPr/>
          <p:nvPr/>
        </p:nvSpPr>
        <p:spPr>
          <a:xfrm>
            <a:off x="43921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5.0 Mbps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6456410F-5A14-EAC4-7E2C-7C85837B283C}"/>
              </a:ext>
            </a:extLst>
          </p:cNvPr>
          <p:cNvSpPr/>
          <p:nvPr/>
        </p:nvSpPr>
        <p:spPr>
          <a:xfrm>
            <a:off x="310926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0DBDB3AD-5143-39C1-17B4-90CA3EBE9A24}"/>
              </a:ext>
            </a:extLst>
          </p:cNvPr>
          <p:cNvSpPr/>
          <p:nvPr/>
        </p:nvSpPr>
        <p:spPr>
          <a:xfrm>
            <a:off x="327385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EA37D563-A84A-FED6-4208-22C12147FC08}"/>
              </a:ext>
            </a:extLst>
          </p:cNvPr>
          <p:cNvSpPr/>
          <p:nvPr/>
        </p:nvSpPr>
        <p:spPr>
          <a:xfrm>
            <a:off x="327385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2.0 ms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BD665870-218A-16DC-F7E2-097B7C59BF82}"/>
              </a:ext>
            </a:extLst>
          </p:cNvPr>
          <p:cNvSpPr/>
          <p:nvPr/>
        </p:nvSpPr>
        <p:spPr>
          <a:xfrm>
            <a:off x="594390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1A29103E-D8C0-34DC-7805-19AED5E5EE9A}"/>
              </a:ext>
            </a:extLst>
          </p:cNvPr>
          <p:cNvSpPr/>
          <p:nvPr/>
        </p:nvSpPr>
        <p:spPr>
          <a:xfrm>
            <a:off x="610849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8FC13720-399E-976C-F94E-E8F5292A6B36}"/>
              </a:ext>
            </a:extLst>
          </p:cNvPr>
          <p:cNvSpPr/>
          <p:nvPr/>
        </p:nvSpPr>
        <p:spPr>
          <a:xfrm>
            <a:off x="610849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€200.0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C82F3BE0-5BC0-B0FB-B6DF-01B326CEEA38}"/>
              </a:ext>
            </a:extLst>
          </p:cNvPr>
          <p:cNvSpPr/>
          <p:nvPr/>
        </p:nvSpPr>
        <p:spPr>
          <a:xfrm>
            <a:off x="8778545" y="5962904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42094965-D1AA-1ADE-FD95-2F429BAB7776}"/>
              </a:ext>
            </a:extLst>
          </p:cNvPr>
          <p:cNvSpPr/>
          <p:nvPr/>
        </p:nvSpPr>
        <p:spPr>
          <a:xfrm>
            <a:off x="8943137" y="60726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1D0E1542-7BE9-5FB1-4D65-3FB85703AFDA}"/>
              </a:ext>
            </a:extLst>
          </p:cNvPr>
          <p:cNvSpPr/>
          <p:nvPr/>
        </p:nvSpPr>
        <p:spPr>
          <a:xfrm>
            <a:off x="8943137" y="62920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100.0 W</a:t>
            </a:r>
            <a:endParaRPr lang="en-US" sz="1700" dirty="0">
              <a:solidFill>
                <a:srgbClr val="C00000"/>
              </a:solidFill>
            </a:endParaRPr>
          </a:p>
        </p:txBody>
      </p:sp>
      <p:sp>
        <p:nvSpPr>
          <p:cNvPr id="105" name="Shape 18">
            <a:extLst>
              <a:ext uri="{FF2B5EF4-FFF2-40B4-BE49-F238E27FC236}">
                <a16:creationId xmlns:a16="http://schemas.microsoft.com/office/drawing/2014/main" id="{4BDAE512-F834-F09D-2BD3-FB018A1D886A}"/>
              </a:ext>
            </a:extLst>
          </p:cNvPr>
          <p:cNvSpPr/>
          <p:nvPr/>
        </p:nvSpPr>
        <p:spPr>
          <a:xfrm>
            <a:off x="4389425" y="2268728"/>
            <a:ext cx="224028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9">
            <a:extLst>
              <a:ext uri="{FF2B5EF4-FFF2-40B4-BE49-F238E27FC236}">
                <a16:creationId xmlns:a16="http://schemas.microsoft.com/office/drawing/2014/main" id="{8E547DBD-91A6-F05A-4096-D09794402AA1}"/>
              </a:ext>
            </a:extLst>
          </p:cNvPr>
          <p:cNvSpPr/>
          <p:nvPr/>
        </p:nvSpPr>
        <p:spPr>
          <a:xfrm>
            <a:off x="4499153" y="23190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107" name="Shape 20">
            <a:extLst>
              <a:ext uri="{FF2B5EF4-FFF2-40B4-BE49-F238E27FC236}">
                <a16:creationId xmlns:a16="http://schemas.microsoft.com/office/drawing/2014/main" id="{4EBEE671-3E75-3A80-D4B1-BA1FF9FC8A3D}"/>
              </a:ext>
            </a:extLst>
          </p:cNvPr>
          <p:cNvSpPr/>
          <p:nvPr/>
        </p:nvSpPr>
        <p:spPr>
          <a:xfrm>
            <a:off x="6629705" y="2268728"/>
            <a:ext cx="3794760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1">
            <a:extLst>
              <a:ext uri="{FF2B5EF4-FFF2-40B4-BE49-F238E27FC236}">
                <a16:creationId xmlns:a16="http://schemas.microsoft.com/office/drawing/2014/main" id="{E1002072-65CE-A25B-EF41-3F66CA23501A}"/>
              </a:ext>
            </a:extLst>
          </p:cNvPr>
          <p:cNvSpPr/>
          <p:nvPr/>
        </p:nvSpPr>
        <p:spPr>
          <a:xfrm>
            <a:off x="6739433" y="23190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109" name="Shape 22">
            <a:extLst>
              <a:ext uri="{FF2B5EF4-FFF2-40B4-BE49-F238E27FC236}">
                <a16:creationId xmlns:a16="http://schemas.microsoft.com/office/drawing/2014/main" id="{EE14E26D-2C62-B834-8721-DBBED51EC5A1}"/>
              </a:ext>
            </a:extLst>
          </p:cNvPr>
          <p:cNvSpPr/>
          <p:nvPr/>
        </p:nvSpPr>
        <p:spPr>
          <a:xfrm>
            <a:off x="4389425" y="26527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3">
            <a:extLst>
              <a:ext uri="{FF2B5EF4-FFF2-40B4-BE49-F238E27FC236}">
                <a16:creationId xmlns:a16="http://schemas.microsoft.com/office/drawing/2014/main" id="{D6576451-2984-7E7B-0D4A-D86ECDA259E3}"/>
              </a:ext>
            </a:extLst>
          </p:cNvPr>
          <p:cNvSpPr/>
          <p:nvPr/>
        </p:nvSpPr>
        <p:spPr>
          <a:xfrm>
            <a:off x="4499153" y="27030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111" name="Shape 24">
            <a:extLst>
              <a:ext uri="{FF2B5EF4-FFF2-40B4-BE49-F238E27FC236}">
                <a16:creationId xmlns:a16="http://schemas.microsoft.com/office/drawing/2014/main" id="{89EF3396-ADB2-8B76-415E-E6EE356D9B14}"/>
              </a:ext>
            </a:extLst>
          </p:cNvPr>
          <p:cNvSpPr/>
          <p:nvPr/>
        </p:nvSpPr>
        <p:spPr>
          <a:xfrm>
            <a:off x="6629705" y="26527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Text 25">
            <a:extLst>
              <a:ext uri="{FF2B5EF4-FFF2-40B4-BE49-F238E27FC236}">
                <a16:creationId xmlns:a16="http://schemas.microsoft.com/office/drawing/2014/main" id="{F882ADAC-F42D-C1DD-0300-5CB00FEB2093}"/>
              </a:ext>
            </a:extLst>
          </p:cNvPr>
          <p:cNvSpPr/>
          <p:nvPr/>
        </p:nvSpPr>
        <p:spPr>
          <a:xfrm>
            <a:off x="6739433" y="27030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3" name="Shape 26">
            <a:extLst>
              <a:ext uri="{FF2B5EF4-FFF2-40B4-BE49-F238E27FC236}">
                <a16:creationId xmlns:a16="http://schemas.microsoft.com/office/drawing/2014/main" id="{D836E5B4-4CAC-E8F5-0C2F-C6D609679EC6}"/>
              </a:ext>
            </a:extLst>
          </p:cNvPr>
          <p:cNvSpPr/>
          <p:nvPr/>
        </p:nvSpPr>
        <p:spPr>
          <a:xfrm>
            <a:off x="4389425" y="30368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27">
            <a:extLst>
              <a:ext uri="{FF2B5EF4-FFF2-40B4-BE49-F238E27FC236}">
                <a16:creationId xmlns:a16="http://schemas.microsoft.com/office/drawing/2014/main" id="{C9D6671D-1264-0393-720C-3DA1CCC75E4A}"/>
              </a:ext>
            </a:extLst>
          </p:cNvPr>
          <p:cNvSpPr/>
          <p:nvPr/>
        </p:nvSpPr>
        <p:spPr>
          <a:xfrm>
            <a:off x="4499153" y="30871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115" name="Shape 28">
            <a:extLst>
              <a:ext uri="{FF2B5EF4-FFF2-40B4-BE49-F238E27FC236}">
                <a16:creationId xmlns:a16="http://schemas.microsoft.com/office/drawing/2014/main" id="{D2D3ADC3-FFE7-2943-DF5D-5C51A65379C2}"/>
              </a:ext>
            </a:extLst>
          </p:cNvPr>
          <p:cNvSpPr/>
          <p:nvPr/>
        </p:nvSpPr>
        <p:spPr>
          <a:xfrm>
            <a:off x="6629705" y="30368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6" name="Text 29">
            <a:extLst>
              <a:ext uri="{FF2B5EF4-FFF2-40B4-BE49-F238E27FC236}">
                <a16:creationId xmlns:a16="http://schemas.microsoft.com/office/drawing/2014/main" id="{94CF8969-7D8E-82C3-03A8-56DF3D836A45}"/>
              </a:ext>
            </a:extLst>
          </p:cNvPr>
          <p:cNvSpPr/>
          <p:nvPr/>
        </p:nvSpPr>
        <p:spPr>
          <a:xfrm>
            <a:off x="6739433" y="30871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3</a:t>
            </a:r>
            <a:endParaRPr lang="en-US" sz="1100" dirty="0"/>
          </a:p>
        </p:txBody>
      </p:sp>
      <p:sp>
        <p:nvSpPr>
          <p:cNvPr id="117" name="Shape 30">
            <a:extLst>
              <a:ext uri="{FF2B5EF4-FFF2-40B4-BE49-F238E27FC236}">
                <a16:creationId xmlns:a16="http://schemas.microsoft.com/office/drawing/2014/main" id="{EE00339E-AF9C-EE0D-7D30-FB12EEEBA435}"/>
              </a:ext>
            </a:extLst>
          </p:cNvPr>
          <p:cNvSpPr/>
          <p:nvPr/>
        </p:nvSpPr>
        <p:spPr>
          <a:xfrm>
            <a:off x="4389425" y="34208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31">
            <a:extLst>
              <a:ext uri="{FF2B5EF4-FFF2-40B4-BE49-F238E27FC236}">
                <a16:creationId xmlns:a16="http://schemas.microsoft.com/office/drawing/2014/main" id="{26C50F00-A946-DD84-63EB-AF678AD496C5}"/>
              </a:ext>
            </a:extLst>
          </p:cNvPr>
          <p:cNvSpPr/>
          <p:nvPr/>
        </p:nvSpPr>
        <p:spPr>
          <a:xfrm>
            <a:off x="4499153" y="34711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119" name="Shape 32">
            <a:extLst>
              <a:ext uri="{FF2B5EF4-FFF2-40B4-BE49-F238E27FC236}">
                <a16:creationId xmlns:a16="http://schemas.microsoft.com/office/drawing/2014/main" id="{E26653AC-83C9-D3EC-4BC8-342B7F96EFF2}"/>
              </a:ext>
            </a:extLst>
          </p:cNvPr>
          <p:cNvSpPr/>
          <p:nvPr/>
        </p:nvSpPr>
        <p:spPr>
          <a:xfrm>
            <a:off x="6629705" y="3420872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 0.9568</a:t>
            </a:r>
            <a:endParaRPr lang="en-US" sz="1100" dirty="0"/>
          </a:p>
        </p:txBody>
      </p:sp>
      <p:sp>
        <p:nvSpPr>
          <p:cNvPr id="120" name="Text 33">
            <a:extLst>
              <a:ext uri="{FF2B5EF4-FFF2-40B4-BE49-F238E27FC236}">
                <a16:creationId xmlns:a16="http://schemas.microsoft.com/office/drawing/2014/main" id="{16FF73E2-784A-C750-5A16-91852EF31D71}"/>
              </a:ext>
            </a:extLst>
          </p:cNvPr>
          <p:cNvSpPr/>
          <p:nvPr/>
        </p:nvSpPr>
        <p:spPr>
          <a:xfrm>
            <a:off x="6739433" y="34711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0.6556</a:t>
            </a:r>
            <a:endParaRPr lang="en-US" sz="1100" dirty="0"/>
          </a:p>
        </p:txBody>
      </p:sp>
      <p:sp>
        <p:nvSpPr>
          <p:cNvPr id="121" name="Shape 34">
            <a:extLst>
              <a:ext uri="{FF2B5EF4-FFF2-40B4-BE49-F238E27FC236}">
                <a16:creationId xmlns:a16="http://schemas.microsoft.com/office/drawing/2014/main" id="{D021D50A-4045-166A-7FC4-012E17A9E4C7}"/>
              </a:ext>
            </a:extLst>
          </p:cNvPr>
          <p:cNvSpPr/>
          <p:nvPr/>
        </p:nvSpPr>
        <p:spPr>
          <a:xfrm>
            <a:off x="4389425" y="38049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5">
            <a:extLst>
              <a:ext uri="{FF2B5EF4-FFF2-40B4-BE49-F238E27FC236}">
                <a16:creationId xmlns:a16="http://schemas.microsoft.com/office/drawing/2014/main" id="{96CA77C0-BCF4-D254-CB8C-93042C80B540}"/>
              </a:ext>
            </a:extLst>
          </p:cNvPr>
          <p:cNvSpPr/>
          <p:nvPr/>
        </p:nvSpPr>
        <p:spPr>
          <a:xfrm>
            <a:off x="4499153" y="38552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23" name="Shape 36">
            <a:extLst>
              <a:ext uri="{FF2B5EF4-FFF2-40B4-BE49-F238E27FC236}">
                <a16:creationId xmlns:a16="http://schemas.microsoft.com/office/drawing/2014/main" id="{FD277F39-F433-6A6A-AB95-3B452CE83011}"/>
              </a:ext>
            </a:extLst>
          </p:cNvPr>
          <p:cNvSpPr/>
          <p:nvPr/>
        </p:nvSpPr>
        <p:spPr>
          <a:xfrm>
            <a:off x="6629705" y="3811497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37">
            <a:extLst>
              <a:ext uri="{FF2B5EF4-FFF2-40B4-BE49-F238E27FC236}">
                <a16:creationId xmlns:a16="http://schemas.microsoft.com/office/drawing/2014/main" id="{77CC5741-909D-E798-2297-CC8B2E5CEC18}"/>
              </a:ext>
            </a:extLst>
          </p:cNvPr>
          <p:cNvSpPr/>
          <p:nvPr/>
        </p:nvSpPr>
        <p:spPr>
          <a:xfrm>
            <a:off x="6739433" y="38552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590.384 Mbps</a:t>
            </a:r>
            <a:endParaRPr lang="en-US" sz="1100" dirty="0"/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A18EF6FC-B224-31F7-B34B-583808311D7D}"/>
              </a:ext>
            </a:extLst>
          </p:cNvPr>
          <p:cNvSpPr/>
          <p:nvPr/>
        </p:nvSpPr>
        <p:spPr>
          <a:xfrm>
            <a:off x="4389425" y="41889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39">
            <a:extLst>
              <a:ext uri="{FF2B5EF4-FFF2-40B4-BE49-F238E27FC236}">
                <a16:creationId xmlns:a16="http://schemas.microsoft.com/office/drawing/2014/main" id="{835BA1D4-553C-266F-4605-74A308A79762}"/>
              </a:ext>
            </a:extLst>
          </p:cNvPr>
          <p:cNvSpPr/>
          <p:nvPr/>
        </p:nvSpPr>
        <p:spPr>
          <a:xfrm>
            <a:off x="4499153" y="42392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127" name="Shape 40">
            <a:extLst>
              <a:ext uri="{FF2B5EF4-FFF2-40B4-BE49-F238E27FC236}">
                <a16:creationId xmlns:a16="http://schemas.microsoft.com/office/drawing/2014/main" id="{0DD10AFF-280D-8564-0FE7-303FB91C423A}"/>
              </a:ext>
            </a:extLst>
          </p:cNvPr>
          <p:cNvSpPr/>
          <p:nvPr/>
        </p:nvSpPr>
        <p:spPr>
          <a:xfrm>
            <a:off x="6629705" y="41889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41">
            <a:extLst>
              <a:ext uri="{FF2B5EF4-FFF2-40B4-BE49-F238E27FC236}">
                <a16:creationId xmlns:a16="http://schemas.microsoft.com/office/drawing/2014/main" id="{B4C4AFE8-497E-6AAE-7E7A-2F116CC337B8}"/>
              </a:ext>
            </a:extLst>
          </p:cNvPr>
          <p:cNvSpPr/>
          <p:nvPr/>
        </p:nvSpPr>
        <p:spPr>
          <a:xfrm>
            <a:off x="6739433" y="42392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 ms</a:t>
            </a:r>
            <a:endParaRPr lang="en-US" sz="1100" dirty="0"/>
          </a:p>
        </p:txBody>
      </p:sp>
      <p:sp>
        <p:nvSpPr>
          <p:cNvPr id="129" name="Shape 42">
            <a:extLst>
              <a:ext uri="{FF2B5EF4-FFF2-40B4-BE49-F238E27FC236}">
                <a16:creationId xmlns:a16="http://schemas.microsoft.com/office/drawing/2014/main" id="{EB26644B-AEEE-6C97-3A9E-6F07CD2B7A71}"/>
              </a:ext>
            </a:extLst>
          </p:cNvPr>
          <p:cNvSpPr/>
          <p:nvPr/>
        </p:nvSpPr>
        <p:spPr>
          <a:xfrm>
            <a:off x="4389425" y="45730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43">
            <a:extLst>
              <a:ext uri="{FF2B5EF4-FFF2-40B4-BE49-F238E27FC236}">
                <a16:creationId xmlns:a16="http://schemas.microsoft.com/office/drawing/2014/main" id="{FDFF6272-8863-E831-D287-23ED6A045860}"/>
              </a:ext>
            </a:extLst>
          </p:cNvPr>
          <p:cNvSpPr/>
          <p:nvPr/>
        </p:nvSpPr>
        <p:spPr>
          <a:xfrm>
            <a:off x="4499153" y="46233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131" name="Shape 44">
            <a:extLst>
              <a:ext uri="{FF2B5EF4-FFF2-40B4-BE49-F238E27FC236}">
                <a16:creationId xmlns:a16="http://schemas.microsoft.com/office/drawing/2014/main" id="{339776C7-A63B-1E4A-B3AE-E0EBA4D1F74B}"/>
              </a:ext>
            </a:extLst>
          </p:cNvPr>
          <p:cNvSpPr/>
          <p:nvPr/>
        </p:nvSpPr>
        <p:spPr>
          <a:xfrm>
            <a:off x="6629705" y="45730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2" name="Text 45">
            <a:extLst>
              <a:ext uri="{FF2B5EF4-FFF2-40B4-BE49-F238E27FC236}">
                <a16:creationId xmlns:a16="http://schemas.microsoft.com/office/drawing/2014/main" id="{534B43EC-9CB7-BCEF-6C6E-74F35241C896}"/>
              </a:ext>
            </a:extLst>
          </p:cNvPr>
          <p:cNvSpPr/>
          <p:nvPr/>
        </p:nvSpPr>
        <p:spPr>
          <a:xfrm>
            <a:off x="6739433" y="46233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€34.394</a:t>
            </a:r>
            <a:endParaRPr lang="en-US" sz="1100" dirty="0"/>
          </a:p>
        </p:txBody>
      </p:sp>
      <p:sp>
        <p:nvSpPr>
          <p:cNvPr id="133" name="Shape 46">
            <a:extLst>
              <a:ext uri="{FF2B5EF4-FFF2-40B4-BE49-F238E27FC236}">
                <a16:creationId xmlns:a16="http://schemas.microsoft.com/office/drawing/2014/main" id="{BD016955-8FAC-DE45-63DF-0250CCBA6196}"/>
              </a:ext>
            </a:extLst>
          </p:cNvPr>
          <p:cNvSpPr/>
          <p:nvPr/>
        </p:nvSpPr>
        <p:spPr>
          <a:xfrm>
            <a:off x="4389425" y="49570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47">
            <a:extLst>
              <a:ext uri="{FF2B5EF4-FFF2-40B4-BE49-F238E27FC236}">
                <a16:creationId xmlns:a16="http://schemas.microsoft.com/office/drawing/2014/main" id="{408EC0A4-6DEA-027D-7960-D5DCCD48BAF7}"/>
              </a:ext>
            </a:extLst>
          </p:cNvPr>
          <p:cNvSpPr/>
          <p:nvPr/>
        </p:nvSpPr>
        <p:spPr>
          <a:xfrm>
            <a:off x="4499153" y="50073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135" name="Shape 48">
            <a:extLst>
              <a:ext uri="{FF2B5EF4-FFF2-40B4-BE49-F238E27FC236}">
                <a16:creationId xmlns:a16="http://schemas.microsoft.com/office/drawing/2014/main" id="{09777B1C-4029-33A0-CA38-D04498148FF7}"/>
              </a:ext>
            </a:extLst>
          </p:cNvPr>
          <p:cNvSpPr/>
          <p:nvPr/>
        </p:nvSpPr>
        <p:spPr>
          <a:xfrm>
            <a:off x="6629705" y="49570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49">
            <a:extLst>
              <a:ext uri="{FF2B5EF4-FFF2-40B4-BE49-F238E27FC236}">
                <a16:creationId xmlns:a16="http://schemas.microsoft.com/office/drawing/2014/main" id="{B7613BF9-6891-D1B0-B5C6-AB3337B6DD74}"/>
              </a:ext>
            </a:extLst>
          </p:cNvPr>
          <p:cNvSpPr/>
          <p:nvPr/>
        </p:nvSpPr>
        <p:spPr>
          <a:xfrm>
            <a:off x="6739433" y="5075936"/>
            <a:ext cx="3575304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latin typeface="Aptos" pitchFamily="34" charset="0"/>
                <a:ea typeface="Aptos" pitchFamily="34" charset="-122"/>
                <a:cs typeface="Aptos" pitchFamily="34" charset="-120"/>
              </a:rPr>
              <a:t>4.558 W</a:t>
            </a:r>
            <a:endParaRPr lang="en-US" sz="1100" dirty="0"/>
          </a:p>
          <a:p>
            <a:endParaRPr lang="en-US" sz="1100" dirty="0"/>
          </a:p>
        </p:txBody>
      </p:sp>
      <p:sp>
        <p:nvSpPr>
          <p:cNvPr id="137" name="Shape 50">
            <a:extLst>
              <a:ext uri="{FF2B5EF4-FFF2-40B4-BE49-F238E27FC236}">
                <a16:creationId xmlns:a16="http://schemas.microsoft.com/office/drawing/2014/main" id="{E7FD36AE-6843-E544-A8AE-1CFB90FAABB4}"/>
              </a:ext>
            </a:extLst>
          </p:cNvPr>
          <p:cNvSpPr/>
          <p:nvPr/>
        </p:nvSpPr>
        <p:spPr>
          <a:xfrm>
            <a:off x="4389425" y="53411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51">
            <a:extLst>
              <a:ext uri="{FF2B5EF4-FFF2-40B4-BE49-F238E27FC236}">
                <a16:creationId xmlns:a16="http://schemas.microsoft.com/office/drawing/2014/main" id="{549E73AB-3E5C-C89B-D492-9EB9FD22A07C}"/>
              </a:ext>
            </a:extLst>
          </p:cNvPr>
          <p:cNvSpPr/>
          <p:nvPr/>
        </p:nvSpPr>
        <p:spPr>
          <a:xfrm>
            <a:off x="4499153" y="53914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139" name="Shape 52">
            <a:extLst>
              <a:ext uri="{FF2B5EF4-FFF2-40B4-BE49-F238E27FC236}">
                <a16:creationId xmlns:a16="http://schemas.microsoft.com/office/drawing/2014/main" id="{1BE2028E-0E98-1ABE-A03F-194D13F409E5}"/>
              </a:ext>
            </a:extLst>
          </p:cNvPr>
          <p:cNvSpPr/>
          <p:nvPr/>
        </p:nvSpPr>
        <p:spPr>
          <a:xfrm>
            <a:off x="6629705" y="53411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53">
            <a:extLst>
              <a:ext uri="{FF2B5EF4-FFF2-40B4-BE49-F238E27FC236}">
                <a16:creationId xmlns:a16="http://schemas.microsoft.com/office/drawing/2014/main" id="{B2AA6A3C-C72E-FA11-7BE3-E46E939C25C2}"/>
              </a:ext>
            </a:extLst>
          </p:cNvPr>
          <p:cNvSpPr/>
          <p:nvPr/>
        </p:nvSpPr>
        <p:spPr>
          <a:xfrm>
            <a:off x="6739433" y="53914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pic>
        <p:nvPicPr>
          <p:cNvPr id="141" name="Picture 2">
            <a:extLst>
              <a:ext uri="{FF2B5EF4-FFF2-40B4-BE49-F238E27FC236}">
                <a16:creationId xmlns:a16="http://schemas.microsoft.com/office/drawing/2014/main" id="{EE57AD11-1E4C-0874-2002-B83E89245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94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" name="Shape 2">
            <a:extLst>
              <a:ext uri="{FF2B5EF4-FFF2-40B4-BE49-F238E27FC236}">
                <a16:creationId xmlns:a16="http://schemas.microsoft.com/office/drawing/2014/main" id="{2802DBC7-74AE-40AC-BBFE-FB02C84E7540}"/>
              </a:ext>
            </a:extLst>
          </p:cNvPr>
          <p:cNvSpPr/>
          <p:nvPr/>
        </p:nvSpPr>
        <p:spPr>
          <a:xfrm>
            <a:off x="3477260" y="1080008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177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FFF0EE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 • URLLC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Factory-Ops: all ranked offers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0.5, 0.2, 0.1</a:t>
            </a:r>
            <a:endParaRPr lang="en-US" sz="1050" dirty="0"/>
          </a:p>
        </p:txBody>
      </p:sp>
      <p:sp>
        <p:nvSpPr>
          <p:cNvPr id="159" name="Shape 5">
            <a:extLst>
              <a:ext uri="{FF2B5EF4-FFF2-40B4-BE49-F238E27FC236}">
                <a16:creationId xmlns:a16="http://schemas.microsoft.com/office/drawing/2014/main" id="{49732B59-1B45-7A80-CC2C-8D9D5FC86C72}"/>
              </a:ext>
            </a:extLst>
          </p:cNvPr>
          <p:cNvSpPr/>
          <p:nvPr/>
        </p:nvSpPr>
        <p:spPr>
          <a:xfrm>
            <a:off x="638082" y="1234440"/>
            <a:ext cx="11553613" cy="457200"/>
          </a:xfrm>
          <a:prstGeom prst="roundRect">
            <a:avLst>
              <a:gd name="adj" fmla="val 1600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0" name="Text 6">
            <a:extLst>
              <a:ext uri="{FF2B5EF4-FFF2-40B4-BE49-F238E27FC236}">
                <a16:creationId xmlns:a16="http://schemas.microsoft.com/office/drawing/2014/main" id="{0778037B-7BCE-D897-C88B-313F52D877AD}"/>
              </a:ext>
            </a:extLst>
          </p:cNvPr>
          <p:cNvSpPr/>
          <p:nvPr/>
        </p:nvSpPr>
        <p:spPr>
          <a:xfrm>
            <a:off x="820963" y="1362456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80" b="1" dirty="0">
                <a:solidFill>
                  <a:srgbClr val="C0392B"/>
                </a:solidFill>
              </a:rPr>
              <a:t>User Intent: User wants a URLLC slice for factory operations with throughput (≥ 5), latency (≤ 2), cost (≤ 200), and energy (≤ 100) limits.</a:t>
            </a:r>
            <a:endParaRPr lang="en-US" sz="1180" dirty="0"/>
          </a:p>
        </p:txBody>
      </p:sp>
      <p:pic>
        <p:nvPicPr>
          <p:cNvPr id="161" name="Picture 2">
            <a:extLst>
              <a:ext uri="{FF2B5EF4-FFF2-40B4-BE49-F238E27FC236}">
                <a16:creationId xmlns:a16="http://schemas.microsoft.com/office/drawing/2014/main" id="{0E090753-98A9-7EE3-D8AF-41FAF12C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292" y="21475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5" name="Shape 9">
            <a:extLst>
              <a:ext uri="{FF2B5EF4-FFF2-40B4-BE49-F238E27FC236}">
                <a16:creationId xmlns:a16="http://schemas.microsoft.com/office/drawing/2014/main" id="{E8F8F858-B1AD-56D4-EF01-0FD21DD33B0B}"/>
              </a:ext>
            </a:extLst>
          </p:cNvPr>
          <p:cNvSpPr/>
          <p:nvPr/>
        </p:nvSpPr>
        <p:spPr>
          <a:xfrm>
            <a:off x="665515" y="2331042"/>
            <a:ext cx="56692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6" name="Text 10">
            <a:extLst>
              <a:ext uri="{FF2B5EF4-FFF2-40B4-BE49-F238E27FC236}">
                <a16:creationId xmlns:a16="http://schemas.microsoft.com/office/drawing/2014/main" id="{CAEDBB8F-9D3A-3F8F-7E75-62A8C2D04CAC}"/>
              </a:ext>
            </a:extLst>
          </p:cNvPr>
          <p:cNvSpPr/>
          <p:nvPr/>
        </p:nvSpPr>
        <p:spPr>
          <a:xfrm>
            <a:off x="715807" y="240419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257" name="Shape 11">
            <a:extLst>
              <a:ext uri="{FF2B5EF4-FFF2-40B4-BE49-F238E27FC236}">
                <a16:creationId xmlns:a16="http://schemas.microsoft.com/office/drawing/2014/main" id="{771023DF-88A8-FAA0-62C3-A9FDE37AAA41}"/>
              </a:ext>
            </a:extLst>
          </p:cNvPr>
          <p:cNvSpPr/>
          <p:nvPr/>
        </p:nvSpPr>
        <p:spPr>
          <a:xfrm>
            <a:off x="12324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8" name="Text 12">
            <a:extLst>
              <a:ext uri="{FF2B5EF4-FFF2-40B4-BE49-F238E27FC236}">
                <a16:creationId xmlns:a16="http://schemas.microsoft.com/office/drawing/2014/main" id="{3C0B88EC-FE5E-430F-526C-3F569DB9B5DC}"/>
              </a:ext>
            </a:extLst>
          </p:cNvPr>
          <p:cNvSpPr/>
          <p:nvPr/>
        </p:nvSpPr>
        <p:spPr>
          <a:xfrm>
            <a:off x="12827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259" name="Shape 13">
            <a:extLst>
              <a:ext uri="{FF2B5EF4-FFF2-40B4-BE49-F238E27FC236}">
                <a16:creationId xmlns:a16="http://schemas.microsoft.com/office/drawing/2014/main" id="{607A4C19-F958-4165-7722-6C1C61FC62A9}"/>
              </a:ext>
            </a:extLst>
          </p:cNvPr>
          <p:cNvSpPr/>
          <p:nvPr/>
        </p:nvSpPr>
        <p:spPr>
          <a:xfrm>
            <a:off x="1982251" y="2331042"/>
            <a:ext cx="111556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0" name="Text 14">
            <a:extLst>
              <a:ext uri="{FF2B5EF4-FFF2-40B4-BE49-F238E27FC236}">
                <a16:creationId xmlns:a16="http://schemas.microsoft.com/office/drawing/2014/main" id="{EBF11AC3-D019-5B38-AA1F-99CA032B089D}"/>
              </a:ext>
            </a:extLst>
          </p:cNvPr>
          <p:cNvSpPr/>
          <p:nvPr/>
        </p:nvSpPr>
        <p:spPr>
          <a:xfrm>
            <a:off x="2032543" y="240419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261" name="Shape 15">
            <a:extLst>
              <a:ext uri="{FF2B5EF4-FFF2-40B4-BE49-F238E27FC236}">
                <a16:creationId xmlns:a16="http://schemas.microsoft.com/office/drawing/2014/main" id="{A576C590-C83C-B9A5-5CB8-B31DF56AF435}"/>
              </a:ext>
            </a:extLst>
          </p:cNvPr>
          <p:cNvSpPr/>
          <p:nvPr/>
        </p:nvSpPr>
        <p:spPr>
          <a:xfrm>
            <a:off x="3097819" y="2331042"/>
            <a:ext cx="1225296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2" name="Text 16">
            <a:extLst>
              <a:ext uri="{FF2B5EF4-FFF2-40B4-BE49-F238E27FC236}">
                <a16:creationId xmlns:a16="http://schemas.microsoft.com/office/drawing/2014/main" id="{74F23167-9C89-6079-0CAA-1D794EE1CD95}"/>
              </a:ext>
            </a:extLst>
          </p:cNvPr>
          <p:cNvSpPr/>
          <p:nvPr/>
        </p:nvSpPr>
        <p:spPr>
          <a:xfrm>
            <a:off x="3148111" y="240419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63" name="Shape 17">
            <a:extLst>
              <a:ext uri="{FF2B5EF4-FFF2-40B4-BE49-F238E27FC236}">
                <a16:creationId xmlns:a16="http://schemas.microsoft.com/office/drawing/2014/main" id="{B56CE2C8-F818-51E9-6D4D-43AC05CF4458}"/>
              </a:ext>
            </a:extLst>
          </p:cNvPr>
          <p:cNvSpPr/>
          <p:nvPr/>
        </p:nvSpPr>
        <p:spPr>
          <a:xfrm>
            <a:off x="4323115" y="2331042"/>
            <a:ext cx="987552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4" name="Text 18">
            <a:extLst>
              <a:ext uri="{FF2B5EF4-FFF2-40B4-BE49-F238E27FC236}">
                <a16:creationId xmlns:a16="http://schemas.microsoft.com/office/drawing/2014/main" id="{CDB997AC-77D5-75DA-C200-E6D23D7E95BB}"/>
              </a:ext>
            </a:extLst>
          </p:cNvPr>
          <p:cNvSpPr/>
          <p:nvPr/>
        </p:nvSpPr>
        <p:spPr>
          <a:xfrm>
            <a:off x="4373407" y="240419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65" name="Shape 19">
            <a:extLst>
              <a:ext uri="{FF2B5EF4-FFF2-40B4-BE49-F238E27FC236}">
                <a16:creationId xmlns:a16="http://schemas.microsoft.com/office/drawing/2014/main" id="{43E022BA-B8C4-0B26-77EF-BE7EFC7EDD46}"/>
              </a:ext>
            </a:extLst>
          </p:cNvPr>
          <p:cNvSpPr/>
          <p:nvPr/>
        </p:nvSpPr>
        <p:spPr>
          <a:xfrm>
            <a:off x="5310667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6" name="Text 20">
            <a:extLst>
              <a:ext uri="{FF2B5EF4-FFF2-40B4-BE49-F238E27FC236}">
                <a16:creationId xmlns:a16="http://schemas.microsoft.com/office/drawing/2014/main" id="{AB33297F-9CBA-020C-35DC-3529CA139C3B}"/>
              </a:ext>
            </a:extLst>
          </p:cNvPr>
          <p:cNvSpPr/>
          <p:nvPr/>
        </p:nvSpPr>
        <p:spPr>
          <a:xfrm>
            <a:off x="5360959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67" name="Shape 21">
            <a:extLst>
              <a:ext uri="{FF2B5EF4-FFF2-40B4-BE49-F238E27FC236}">
                <a16:creationId xmlns:a16="http://schemas.microsoft.com/office/drawing/2014/main" id="{4A493623-EE12-28FD-D157-5C4D58B439AD}"/>
              </a:ext>
            </a:extLst>
          </p:cNvPr>
          <p:cNvSpPr/>
          <p:nvPr/>
        </p:nvSpPr>
        <p:spPr>
          <a:xfrm>
            <a:off x="6243355" y="2331042"/>
            <a:ext cx="93268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8" name="Text 22">
            <a:extLst>
              <a:ext uri="{FF2B5EF4-FFF2-40B4-BE49-F238E27FC236}">
                <a16:creationId xmlns:a16="http://schemas.microsoft.com/office/drawing/2014/main" id="{7D33ECFE-2DD6-0831-E73F-28F2C80F37C1}"/>
              </a:ext>
            </a:extLst>
          </p:cNvPr>
          <p:cNvSpPr/>
          <p:nvPr/>
        </p:nvSpPr>
        <p:spPr>
          <a:xfrm>
            <a:off x="6293647" y="240419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69" name="Shape 23">
            <a:extLst>
              <a:ext uri="{FF2B5EF4-FFF2-40B4-BE49-F238E27FC236}">
                <a16:creationId xmlns:a16="http://schemas.microsoft.com/office/drawing/2014/main" id="{2018A56A-6CDD-2826-F360-B23FC48293A0}"/>
              </a:ext>
            </a:extLst>
          </p:cNvPr>
          <p:cNvSpPr/>
          <p:nvPr/>
        </p:nvSpPr>
        <p:spPr>
          <a:xfrm>
            <a:off x="7176043" y="2331042"/>
            <a:ext cx="749808" cy="384048"/>
          </a:xfrm>
          <a:prstGeom prst="rect">
            <a:avLst/>
          </a:prstGeom>
          <a:solidFill>
            <a:srgbClr val="C00000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0" name="Text 24">
            <a:extLst>
              <a:ext uri="{FF2B5EF4-FFF2-40B4-BE49-F238E27FC236}">
                <a16:creationId xmlns:a16="http://schemas.microsoft.com/office/drawing/2014/main" id="{60C5740C-9E6C-9693-9C00-006FF6E26ACF}"/>
              </a:ext>
            </a:extLst>
          </p:cNvPr>
          <p:cNvSpPr/>
          <p:nvPr/>
        </p:nvSpPr>
        <p:spPr>
          <a:xfrm>
            <a:off x="7226335" y="240419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1" name="Shape 25">
            <a:extLst>
              <a:ext uri="{FF2B5EF4-FFF2-40B4-BE49-F238E27FC236}">
                <a16:creationId xmlns:a16="http://schemas.microsoft.com/office/drawing/2014/main" id="{577E32A7-7958-F6CF-BAD1-C9F6F54F041D}"/>
              </a:ext>
            </a:extLst>
          </p:cNvPr>
          <p:cNvSpPr/>
          <p:nvPr/>
        </p:nvSpPr>
        <p:spPr>
          <a:xfrm>
            <a:off x="671815" y="2728806"/>
            <a:ext cx="56692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>
              <a:solidFill>
                <a:srgbClr val="FFFFFF"/>
              </a:solidFill>
            </a:endParaRPr>
          </a:p>
        </p:txBody>
      </p:sp>
      <p:sp>
        <p:nvSpPr>
          <p:cNvPr id="272" name="Text 26">
            <a:extLst>
              <a:ext uri="{FF2B5EF4-FFF2-40B4-BE49-F238E27FC236}">
                <a16:creationId xmlns:a16="http://schemas.microsoft.com/office/drawing/2014/main" id="{574F219A-C5BF-6127-2589-C3FD11A33883}"/>
              </a:ext>
            </a:extLst>
          </p:cNvPr>
          <p:cNvSpPr/>
          <p:nvPr/>
        </p:nvSpPr>
        <p:spPr>
          <a:xfrm>
            <a:off x="715807" y="278824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3" name="Shape 27">
            <a:extLst>
              <a:ext uri="{FF2B5EF4-FFF2-40B4-BE49-F238E27FC236}">
                <a16:creationId xmlns:a16="http://schemas.microsoft.com/office/drawing/2014/main" id="{AFBDED58-72E8-46E6-3111-12A3186E008A}"/>
              </a:ext>
            </a:extLst>
          </p:cNvPr>
          <p:cNvSpPr/>
          <p:nvPr/>
        </p:nvSpPr>
        <p:spPr>
          <a:xfrm>
            <a:off x="12324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4" name="Text 28">
            <a:extLst>
              <a:ext uri="{FF2B5EF4-FFF2-40B4-BE49-F238E27FC236}">
                <a16:creationId xmlns:a16="http://schemas.microsoft.com/office/drawing/2014/main" id="{A1EC78CA-4C1E-7F0B-46D8-C5BF3FA4DAAC}"/>
              </a:ext>
            </a:extLst>
          </p:cNvPr>
          <p:cNvSpPr/>
          <p:nvPr/>
        </p:nvSpPr>
        <p:spPr>
          <a:xfrm>
            <a:off x="12827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Aptos" pitchFamily="34" charset="0"/>
              </a:rPr>
              <a:t>3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5" name="Shape 29">
            <a:extLst>
              <a:ext uri="{FF2B5EF4-FFF2-40B4-BE49-F238E27FC236}">
                <a16:creationId xmlns:a16="http://schemas.microsoft.com/office/drawing/2014/main" id="{972585F7-99CC-7DE0-4B5E-168EEB24F345}"/>
              </a:ext>
            </a:extLst>
          </p:cNvPr>
          <p:cNvSpPr/>
          <p:nvPr/>
        </p:nvSpPr>
        <p:spPr>
          <a:xfrm>
            <a:off x="1957105" y="2731515"/>
            <a:ext cx="111556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6" name="Text 30">
            <a:extLst>
              <a:ext uri="{FF2B5EF4-FFF2-40B4-BE49-F238E27FC236}">
                <a16:creationId xmlns:a16="http://schemas.microsoft.com/office/drawing/2014/main" id="{13B51507-0F7B-A821-4F72-A6BF418325F9}"/>
              </a:ext>
            </a:extLst>
          </p:cNvPr>
          <p:cNvSpPr/>
          <p:nvPr/>
        </p:nvSpPr>
        <p:spPr>
          <a:xfrm>
            <a:off x="2032543" y="278824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itchFamily="34" charset="0"/>
                <a:ea typeface="Aptos" pitchFamily="34" charset="-122"/>
                <a:cs typeface="Aptos" pitchFamily="34" charset="-120"/>
              </a:rPr>
              <a:t>0.956</a:t>
            </a:r>
            <a:endParaRPr lang="en-US" sz="1050" dirty="0">
              <a:solidFill>
                <a:srgbClr val="000000"/>
              </a:solidFill>
            </a:endParaRPr>
          </a:p>
        </p:txBody>
      </p:sp>
      <p:sp>
        <p:nvSpPr>
          <p:cNvPr id="277" name="Shape 31">
            <a:extLst>
              <a:ext uri="{FF2B5EF4-FFF2-40B4-BE49-F238E27FC236}">
                <a16:creationId xmlns:a16="http://schemas.microsoft.com/office/drawing/2014/main" id="{63D78682-D799-CFE7-4264-8C0793108775}"/>
              </a:ext>
            </a:extLst>
          </p:cNvPr>
          <p:cNvSpPr/>
          <p:nvPr/>
        </p:nvSpPr>
        <p:spPr>
          <a:xfrm>
            <a:off x="3097819" y="2715090"/>
            <a:ext cx="1225296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78" name="Text 32">
            <a:extLst>
              <a:ext uri="{FF2B5EF4-FFF2-40B4-BE49-F238E27FC236}">
                <a16:creationId xmlns:a16="http://schemas.microsoft.com/office/drawing/2014/main" id="{40E02943-BC67-525F-CE68-466BD7B907C6}"/>
              </a:ext>
            </a:extLst>
          </p:cNvPr>
          <p:cNvSpPr/>
          <p:nvPr/>
        </p:nvSpPr>
        <p:spPr>
          <a:xfrm>
            <a:off x="3148111" y="278824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590.384</a:t>
            </a:r>
            <a:endParaRPr lang="en-US" sz="1050" dirty="0"/>
          </a:p>
        </p:txBody>
      </p:sp>
      <p:sp>
        <p:nvSpPr>
          <p:cNvPr id="279" name="Shape 33">
            <a:extLst>
              <a:ext uri="{FF2B5EF4-FFF2-40B4-BE49-F238E27FC236}">
                <a16:creationId xmlns:a16="http://schemas.microsoft.com/office/drawing/2014/main" id="{D0356585-E142-D92C-B404-9A4AD75236ED}"/>
              </a:ext>
            </a:extLst>
          </p:cNvPr>
          <p:cNvSpPr/>
          <p:nvPr/>
        </p:nvSpPr>
        <p:spPr>
          <a:xfrm>
            <a:off x="4323115" y="2715090"/>
            <a:ext cx="987552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0" name="Text 34">
            <a:extLst>
              <a:ext uri="{FF2B5EF4-FFF2-40B4-BE49-F238E27FC236}">
                <a16:creationId xmlns:a16="http://schemas.microsoft.com/office/drawing/2014/main" id="{6D1C18E8-667F-59DE-9193-88A820008B2B}"/>
              </a:ext>
            </a:extLst>
          </p:cNvPr>
          <p:cNvSpPr/>
          <p:nvPr/>
        </p:nvSpPr>
        <p:spPr>
          <a:xfrm>
            <a:off x="4373407" y="278824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0.0123</a:t>
            </a:r>
            <a:endParaRPr lang="en-US" sz="1050" dirty="0"/>
          </a:p>
        </p:txBody>
      </p:sp>
      <p:sp>
        <p:nvSpPr>
          <p:cNvPr id="281" name="Shape 35">
            <a:extLst>
              <a:ext uri="{FF2B5EF4-FFF2-40B4-BE49-F238E27FC236}">
                <a16:creationId xmlns:a16="http://schemas.microsoft.com/office/drawing/2014/main" id="{2CC15ECF-E0C1-2C3C-062D-2E4A15350312}"/>
              </a:ext>
            </a:extLst>
          </p:cNvPr>
          <p:cNvSpPr/>
          <p:nvPr/>
        </p:nvSpPr>
        <p:spPr>
          <a:xfrm>
            <a:off x="5310667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2" name="Text 36">
            <a:extLst>
              <a:ext uri="{FF2B5EF4-FFF2-40B4-BE49-F238E27FC236}">
                <a16:creationId xmlns:a16="http://schemas.microsoft.com/office/drawing/2014/main" id="{30BCBBD8-1C05-FFFE-28FE-E75CEF3CB44F}"/>
              </a:ext>
            </a:extLst>
          </p:cNvPr>
          <p:cNvSpPr/>
          <p:nvPr/>
        </p:nvSpPr>
        <p:spPr>
          <a:xfrm>
            <a:off x="5360959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34.394</a:t>
            </a:r>
            <a:endParaRPr lang="en-US" sz="1050" dirty="0"/>
          </a:p>
        </p:txBody>
      </p:sp>
      <p:sp>
        <p:nvSpPr>
          <p:cNvPr id="283" name="Shape 37">
            <a:extLst>
              <a:ext uri="{FF2B5EF4-FFF2-40B4-BE49-F238E27FC236}">
                <a16:creationId xmlns:a16="http://schemas.microsoft.com/office/drawing/2014/main" id="{45F0B337-54E8-4308-FC7A-D799EF2A0D1C}"/>
              </a:ext>
            </a:extLst>
          </p:cNvPr>
          <p:cNvSpPr/>
          <p:nvPr/>
        </p:nvSpPr>
        <p:spPr>
          <a:xfrm>
            <a:off x="6243355" y="2715090"/>
            <a:ext cx="93268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4" name="Text 38">
            <a:extLst>
              <a:ext uri="{FF2B5EF4-FFF2-40B4-BE49-F238E27FC236}">
                <a16:creationId xmlns:a16="http://schemas.microsoft.com/office/drawing/2014/main" id="{E91922AA-6516-A8CF-1DF2-E0E398854B53}"/>
              </a:ext>
            </a:extLst>
          </p:cNvPr>
          <p:cNvSpPr/>
          <p:nvPr/>
        </p:nvSpPr>
        <p:spPr>
          <a:xfrm>
            <a:off x="6293647" y="278824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4.558</a:t>
            </a:r>
            <a:endParaRPr lang="en-US" sz="1050" dirty="0"/>
          </a:p>
        </p:txBody>
      </p:sp>
      <p:sp>
        <p:nvSpPr>
          <p:cNvPr id="285" name="Shape 39">
            <a:extLst>
              <a:ext uri="{FF2B5EF4-FFF2-40B4-BE49-F238E27FC236}">
                <a16:creationId xmlns:a16="http://schemas.microsoft.com/office/drawing/2014/main" id="{1189FB12-A6AC-A10E-A148-373899171275}"/>
              </a:ext>
            </a:extLst>
          </p:cNvPr>
          <p:cNvSpPr/>
          <p:nvPr/>
        </p:nvSpPr>
        <p:spPr>
          <a:xfrm>
            <a:off x="7176043" y="2715090"/>
            <a:ext cx="749808" cy="384048"/>
          </a:xfrm>
          <a:prstGeom prst="rect">
            <a:avLst/>
          </a:prstGeom>
          <a:solidFill>
            <a:srgbClr val="FFF0EE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86" name="Text 40">
            <a:extLst>
              <a:ext uri="{FF2B5EF4-FFF2-40B4-BE49-F238E27FC236}">
                <a16:creationId xmlns:a16="http://schemas.microsoft.com/office/drawing/2014/main" id="{23F653FA-1956-1067-B079-35593C359AA2}"/>
              </a:ext>
            </a:extLst>
          </p:cNvPr>
          <p:cNvSpPr/>
          <p:nvPr/>
        </p:nvSpPr>
        <p:spPr>
          <a:xfrm>
            <a:off x="7226335" y="278824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287" name="Shape 41">
            <a:extLst>
              <a:ext uri="{FF2B5EF4-FFF2-40B4-BE49-F238E27FC236}">
                <a16:creationId xmlns:a16="http://schemas.microsoft.com/office/drawing/2014/main" id="{94AE88FC-3136-8E7D-C554-E5DECA6C4D6E}"/>
              </a:ext>
            </a:extLst>
          </p:cNvPr>
          <p:cNvSpPr/>
          <p:nvPr/>
        </p:nvSpPr>
        <p:spPr>
          <a:xfrm>
            <a:off x="665515" y="3099138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8" name="Text 42">
            <a:extLst>
              <a:ext uri="{FF2B5EF4-FFF2-40B4-BE49-F238E27FC236}">
                <a16:creationId xmlns:a16="http://schemas.microsoft.com/office/drawing/2014/main" id="{57515AB1-755E-443F-0550-AA2199E8D83A}"/>
              </a:ext>
            </a:extLst>
          </p:cNvPr>
          <p:cNvSpPr/>
          <p:nvPr/>
        </p:nvSpPr>
        <p:spPr>
          <a:xfrm>
            <a:off x="715807" y="317229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89" name="Shape 43">
            <a:extLst>
              <a:ext uri="{FF2B5EF4-FFF2-40B4-BE49-F238E27FC236}">
                <a16:creationId xmlns:a16="http://schemas.microsoft.com/office/drawing/2014/main" id="{FD042FDD-7202-06E1-E1F7-17BAE0290260}"/>
              </a:ext>
            </a:extLst>
          </p:cNvPr>
          <p:cNvSpPr/>
          <p:nvPr/>
        </p:nvSpPr>
        <p:spPr>
          <a:xfrm>
            <a:off x="12324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290" name="Text 44">
            <a:extLst>
              <a:ext uri="{FF2B5EF4-FFF2-40B4-BE49-F238E27FC236}">
                <a16:creationId xmlns:a16="http://schemas.microsoft.com/office/drawing/2014/main" id="{FCEA6E72-1B3D-44AA-9239-94C099901D2E}"/>
              </a:ext>
            </a:extLst>
          </p:cNvPr>
          <p:cNvSpPr/>
          <p:nvPr/>
        </p:nvSpPr>
        <p:spPr>
          <a:xfrm>
            <a:off x="12827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050" dirty="0"/>
          </a:p>
        </p:txBody>
      </p:sp>
      <p:sp>
        <p:nvSpPr>
          <p:cNvPr id="291" name="Shape 45">
            <a:extLst>
              <a:ext uri="{FF2B5EF4-FFF2-40B4-BE49-F238E27FC236}">
                <a16:creationId xmlns:a16="http://schemas.microsoft.com/office/drawing/2014/main" id="{2E66ECCC-0537-04CB-A245-03C679712B0E}"/>
              </a:ext>
            </a:extLst>
          </p:cNvPr>
          <p:cNvSpPr/>
          <p:nvPr/>
        </p:nvSpPr>
        <p:spPr>
          <a:xfrm>
            <a:off x="1982251" y="3099138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2" name="Text 46">
            <a:extLst>
              <a:ext uri="{FF2B5EF4-FFF2-40B4-BE49-F238E27FC236}">
                <a16:creationId xmlns:a16="http://schemas.microsoft.com/office/drawing/2014/main" id="{C4B334A7-691A-5751-FC36-E4AE9EDA70B1}"/>
              </a:ext>
            </a:extLst>
          </p:cNvPr>
          <p:cNvSpPr/>
          <p:nvPr/>
        </p:nvSpPr>
        <p:spPr>
          <a:xfrm>
            <a:off x="2032543" y="3240870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/>
              <a:t>0.748</a:t>
            </a:r>
          </a:p>
          <a:p>
            <a:pPr algn="ctr"/>
            <a:endParaRPr lang="en-US" sz="1050" dirty="0"/>
          </a:p>
        </p:txBody>
      </p:sp>
      <p:sp>
        <p:nvSpPr>
          <p:cNvPr id="293" name="Shape 47">
            <a:extLst>
              <a:ext uri="{FF2B5EF4-FFF2-40B4-BE49-F238E27FC236}">
                <a16:creationId xmlns:a16="http://schemas.microsoft.com/office/drawing/2014/main" id="{346120E0-90D5-AE1F-15F2-19B976B47E8E}"/>
              </a:ext>
            </a:extLst>
          </p:cNvPr>
          <p:cNvSpPr/>
          <p:nvPr/>
        </p:nvSpPr>
        <p:spPr>
          <a:xfrm>
            <a:off x="3097819" y="3099138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4" name="Text 48">
            <a:extLst>
              <a:ext uri="{FF2B5EF4-FFF2-40B4-BE49-F238E27FC236}">
                <a16:creationId xmlns:a16="http://schemas.microsoft.com/office/drawing/2014/main" id="{901B7F2E-CC86-7577-4BA1-ABAE9560BFD6}"/>
              </a:ext>
            </a:extLst>
          </p:cNvPr>
          <p:cNvSpPr/>
          <p:nvPr/>
        </p:nvSpPr>
        <p:spPr>
          <a:xfrm>
            <a:off x="3148111" y="3172290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595.575</a:t>
            </a:r>
            <a:endParaRPr lang="en-US" sz="1050" dirty="0"/>
          </a:p>
        </p:txBody>
      </p:sp>
      <p:sp>
        <p:nvSpPr>
          <p:cNvPr id="295" name="Shape 49">
            <a:extLst>
              <a:ext uri="{FF2B5EF4-FFF2-40B4-BE49-F238E27FC236}">
                <a16:creationId xmlns:a16="http://schemas.microsoft.com/office/drawing/2014/main" id="{C22B8C3B-F028-2B6A-90C0-BF9C503E412A}"/>
              </a:ext>
            </a:extLst>
          </p:cNvPr>
          <p:cNvSpPr/>
          <p:nvPr/>
        </p:nvSpPr>
        <p:spPr>
          <a:xfrm>
            <a:off x="4323115" y="3099138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6" name="Text 50">
            <a:extLst>
              <a:ext uri="{FF2B5EF4-FFF2-40B4-BE49-F238E27FC236}">
                <a16:creationId xmlns:a16="http://schemas.microsoft.com/office/drawing/2014/main" id="{A801BC46-B160-548D-2D03-A46BD18FF478}"/>
              </a:ext>
            </a:extLst>
          </p:cNvPr>
          <p:cNvSpPr/>
          <p:nvPr/>
        </p:nvSpPr>
        <p:spPr>
          <a:xfrm>
            <a:off x="4373407" y="317229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0.0122</a:t>
            </a:r>
            <a:endParaRPr lang="en-US" sz="1050" dirty="0"/>
          </a:p>
        </p:txBody>
      </p:sp>
      <p:sp>
        <p:nvSpPr>
          <p:cNvPr id="297" name="Shape 51">
            <a:extLst>
              <a:ext uri="{FF2B5EF4-FFF2-40B4-BE49-F238E27FC236}">
                <a16:creationId xmlns:a16="http://schemas.microsoft.com/office/drawing/2014/main" id="{CA696067-346B-79FD-EE21-5B95E2EDFA58}"/>
              </a:ext>
            </a:extLst>
          </p:cNvPr>
          <p:cNvSpPr/>
          <p:nvPr/>
        </p:nvSpPr>
        <p:spPr>
          <a:xfrm>
            <a:off x="5310667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8" name="Text 52">
            <a:extLst>
              <a:ext uri="{FF2B5EF4-FFF2-40B4-BE49-F238E27FC236}">
                <a16:creationId xmlns:a16="http://schemas.microsoft.com/office/drawing/2014/main" id="{0CAF80AD-D68E-07FE-0CAA-FD4C30329A0B}"/>
              </a:ext>
            </a:extLst>
          </p:cNvPr>
          <p:cNvSpPr/>
          <p:nvPr/>
        </p:nvSpPr>
        <p:spPr>
          <a:xfrm>
            <a:off x="5360959" y="317229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84.501</a:t>
            </a:r>
            <a:endParaRPr lang="en-US" sz="1050" dirty="0"/>
          </a:p>
        </p:txBody>
      </p:sp>
      <p:sp>
        <p:nvSpPr>
          <p:cNvPr id="299" name="Shape 53">
            <a:extLst>
              <a:ext uri="{FF2B5EF4-FFF2-40B4-BE49-F238E27FC236}">
                <a16:creationId xmlns:a16="http://schemas.microsoft.com/office/drawing/2014/main" id="{59072984-7379-BA02-409D-60CAD50F8409}"/>
              </a:ext>
            </a:extLst>
          </p:cNvPr>
          <p:cNvSpPr/>
          <p:nvPr/>
        </p:nvSpPr>
        <p:spPr>
          <a:xfrm>
            <a:off x="6243355" y="3099138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0" name="Text 54">
            <a:extLst>
              <a:ext uri="{FF2B5EF4-FFF2-40B4-BE49-F238E27FC236}">
                <a16:creationId xmlns:a16="http://schemas.microsoft.com/office/drawing/2014/main" id="{4020DEF1-F10B-609A-D907-F1974DE6BC50}"/>
              </a:ext>
            </a:extLst>
          </p:cNvPr>
          <p:cNvSpPr/>
          <p:nvPr/>
        </p:nvSpPr>
        <p:spPr>
          <a:xfrm>
            <a:off x="6535963" y="316382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21.210</a:t>
            </a:r>
          </a:p>
        </p:txBody>
      </p:sp>
      <p:sp>
        <p:nvSpPr>
          <p:cNvPr id="301" name="Shape 55">
            <a:extLst>
              <a:ext uri="{FF2B5EF4-FFF2-40B4-BE49-F238E27FC236}">
                <a16:creationId xmlns:a16="http://schemas.microsoft.com/office/drawing/2014/main" id="{6C68A21B-E525-446D-3B54-AFEC2092CE14}"/>
              </a:ext>
            </a:extLst>
          </p:cNvPr>
          <p:cNvSpPr/>
          <p:nvPr/>
        </p:nvSpPr>
        <p:spPr>
          <a:xfrm>
            <a:off x="7176043" y="3099138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2" name="Text 56">
            <a:extLst>
              <a:ext uri="{FF2B5EF4-FFF2-40B4-BE49-F238E27FC236}">
                <a16:creationId xmlns:a16="http://schemas.microsoft.com/office/drawing/2014/main" id="{6796D107-9423-CFFA-9852-BBE4C58BB853}"/>
              </a:ext>
            </a:extLst>
          </p:cNvPr>
          <p:cNvSpPr/>
          <p:nvPr/>
        </p:nvSpPr>
        <p:spPr>
          <a:xfrm>
            <a:off x="7226335" y="317229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03" name="Shape 57">
            <a:extLst>
              <a:ext uri="{FF2B5EF4-FFF2-40B4-BE49-F238E27FC236}">
                <a16:creationId xmlns:a16="http://schemas.microsoft.com/office/drawing/2014/main" id="{402A85F1-E043-918C-224C-07C5EF267183}"/>
              </a:ext>
            </a:extLst>
          </p:cNvPr>
          <p:cNvSpPr/>
          <p:nvPr/>
        </p:nvSpPr>
        <p:spPr>
          <a:xfrm>
            <a:off x="665515" y="3483186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4" name="Text 58">
            <a:extLst>
              <a:ext uri="{FF2B5EF4-FFF2-40B4-BE49-F238E27FC236}">
                <a16:creationId xmlns:a16="http://schemas.microsoft.com/office/drawing/2014/main" id="{3CCB4072-E7FE-89A3-3411-EB321652AB00}"/>
              </a:ext>
            </a:extLst>
          </p:cNvPr>
          <p:cNvSpPr/>
          <p:nvPr/>
        </p:nvSpPr>
        <p:spPr>
          <a:xfrm>
            <a:off x="715807" y="355633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05" name="Shape 59">
            <a:extLst>
              <a:ext uri="{FF2B5EF4-FFF2-40B4-BE49-F238E27FC236}">
                <a16:creationId xmlns:a16="http://schemas.microsoft.com/office/drawing/2014/main" id="{0A3865C7-87AD-1E9E-7D1F-F4C94842EEA9}"/>
              </a:ext>
            </a:extLst>
          </p:cNvPr>
          <p:cNvSpPr/>
          <p:nvPr/>
        </p:nvSpPr>
        <p:spPr>
          <a:xfrm>
            <a:off x="12324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06" name="Text 60">
            <a:extLst>
              <a:ext uri="{FF2B5EF4-FFF2-40B4-BE49-F238E27FC236}">
                <a16:creationId xmlns:a16="http://schemas.microsoft.com/office/drawing/2014/main" id="{0441F684-7697-48D2-EC47-3D73A08C5EBC}"/>
              </a:ext>
            </a:extLst>
          </p:cNvPr>
          <p:cNvSpPr/>
          <p:nvPr/>
        </p:nvSpPr>
        <p:spPr>
          <a:xfrm>
            <a:off x="12827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07" name="Shape 61">
            <a:extLst>
              <a:ext uri="{FF2B5EF4-FFF2-40B4-BE49-F238E27FC236}">
                <a16:creationId xmlns:a16="http://schemas.microsoft.com/office/drawing/2014/main" id="{F9D9D236-72F3-F005-1B4C-4CE77FE8E447}"/>
              </a:ext>
            </a:extLst>
          </p:cNvPr>
          <p:cNvSpPr/>
          <p:nvPr/>
        </p:nvSpPr>
        <p:spPr>
          <a:xfrm>
            <a:off x="1982251" y="3483186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8" name="Text 62">
            <a:extLst>
              <a:ext uri="{FF2B5EF4-FFF2-40B4-BE49-F238E27FC236}">
                <a16:creationId xmlns:a16="http://schemas.microsoft.com/office/drawing/2014/main" id="{A30D6A9B-A30C-4F5F-827D-031D16D829E4}"/>
              </a:ext>
            </a:extLst>
          </p:cNvPr>
          <p:cNvSpPr/>
          <p:nvPr/>
        </p:nvSpPr>
        <p:spPr>
          <a:xfrm>
            <a:off x="2032543" y="362491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0.702</a:t>
            </a:r>
          </a:p>
          <a:p>
            <a:pPr algn="ctr"/>
            <a:endParaRPr lang="en-US" sz="1050" dirty="0"/>
          </a:p>
        </p:txBody>
      </p:sp>
      <p:sp>
        <p:nvSpPr>
          <p:cNvPr id="309" name="Shape 63">
            <a:extLst>
              <a:ext uri="{FF2B5EF4-FFF2-40B4-BE49-F238E27FC236}">
                <a16:creationId xmlns:a16="http://schemas.microsoft.com/office/drawing/2014/main" id="{95EFA885-A208-2517-44C5-67905DCD6C13}"/>
              </a:ext>
            </a:extLst>
          </p:cNvPr>
          <p:cNvSpPr/>
          <p:nvPr/>
        </p:nvSpPr>
        <p:spPr>
          <a:xfrm>
            <a:off x="3097819" y="3483186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0" name="Text 64">
            <a:extLst>
              <a:ext uri="{FF2B5EF4-FFF2-40B4-BE49-F238E27FC236}">
                <a16:creationId xmlns:a16="http://schemas.microsoft.com/office/drawing/2014/main" id="{217E2939-CEDB-F4E6-60CA-0790039A39DD}"/>
              </a:ext>
            </a:extLst>
          </p:cNvPr>
          <p:cNvSpPr/>
          <p:nvPr/>
        </p:nvSpPr>
        <p:spPr>
          <a:xfrm>
            <a:off x="3493008" y="355633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407.626</a:t>
            </a:r>
          </a:p>
        </p:txBody>
      </p:sp>
      <p:sp>
        <p:nvSpPr>
          <p:cNvPr id="311" name="Shape 65">
            <a:extLst>
              <a:ext uri="{FF2B5EF4-FFF2-40B4-BE49-F238E27FC236}">
                <a16:creationId xmlns:a16="http://schemas.microsoft.com/office/drawing/2014/main" id="{C4E1323E-C1FE-8D74-3CD1-3C0D3B3AEFEA}"/>
              </a:ext>
            </a:extLst>
          </p:cNvPr>
          <p:cNvSpPr/>
          <p:nvPr/>
        </p:nvSpPr>
        <p:spPr>
          <a:xfrm>
            <a:off x="4323115" y="3483186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2" name="Text 66">
            <a:extLst>
              <a:ext uri="{FF2B5EF4-FFF2-40B4-BE49-F238E27FC236}">
                <a16:creationId xmlns:a16="http://schemas.microsoft.com/office/drawing/2014/main" id="{EEB5F09D-04F7-9B7E-6940-5DAFD7FE021E}"/>
              </a:ext>
            </a:extLst>
          </p:cNvPr>
          <p:cNvSpPr/>
          <p:nvPr/>
        </p:nvSpPr>
        <p:spPr>
          <a:xfrm>
            <a:off x="4614403" y="3565143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0.018</a:t>
            </a:r>
          </a:p>
        </p:txBody>
      </p:sp>
      <p:sp>
        <p:nvSpPr>
          <p:cNvPr id="313" name="Shape 67">
            <a:extLst>
              <a:ext uri="{FF2B5EF4-FFF2-40B4-BE49-F238E27FC236}">
                <a16:creationId xmlns:a16="http://schemas.microsoft.com/office/drawing/2014/main" id="{D422A05E-F588-45E3-5CD5-1F6E60F7D5E1}"/>
              </a:ext>
            </a:extLst>
          </p:cNvPr>
          <p:cNvSpPr/>
          <p:nvPr/>
        </p:nvSpPr>
        <p:spPr>
          <a:xfrm>
            <a:off x="5310667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14" name="Text 68">
            <a:extLst>
              <a:ext uri="{FF2B5EF4-FFF2-40B4-BE49-F238E27FC236}">
                <a16:creationId xmlns:a16="http://schemas.microsoft.com/office/drawing/2014/main" id="{26978C0E-AA2D-58A1-4851-78D5039A8414}"/>
              </a:ext>
            </a:extLst>
          </p:cNvPr>
          <p:cNvSpPr/>
          <p:nvPr/>
        </p:nvSpPr>
        <p:spPr>
          <a:xfrm>
            <a:off x="5532594" y="3565143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109.375</a:t>
            </a:r>
          </a:p>
        </p:txBody>
      </p:sp>
      <p:sp>
        <p:nvSpPr>
          <p:cNvPr id="315" name="Shape 69">
            <a:extLst>
              <a:ext uri="{FF2B5EF4-FFF2-40B4-BE49-F238E27FC236}">
                <a16:creationId xmlns:a16="http://schemas.microsoft.com/office/drawing/2014/main" id="{BD593084-6CCE-3D45-1B11-7C3F3038A4FF}"/>
              </a:ext>
            </a:extLst>
          </p:cNvPr>
          <p:cNvSpPr/>
          <p:nvPr/>
        </p:nvSpPr>
        <p:spPr>
          <a:xfrm>
            <a:off x="6243355" y="3483186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16" name="Text 70">
            <a:extLst>
              <a:ext uri="{FF2B5EF4-FFF2-40B4-BE49-F238E27FC236}">
                <a16:creationId xmlns:a16="http://schemas.microsoft.com/office/drawing/2014/main" id="{429D0EC4-5C7C-175E-F1DC-2326FB701D91}"/>
              </a:ext>
            </a:extLst>
          </p:cNvPr>
          <p:cNvSpPr/>
          <p:nvPr/>
        </p:nvSpPr>
        <p:spPr>
          <a:xfrm>
            <a:off x="6293647" y="360205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0.981</a:t>
            </a:r>
          </a:p>
          <a:p>
            <a:pPr algn="ctr"/>
            <a:endParaRPr lang="en-US" sz="1050" dirty="0"/>
          </a:p>
        </p:txBody>
      </p:sp>
      <p:sp>
        <p:nvSpPr>
          <p:cNvPr id="317" name="Shape 71">
            <a:extLst>
              <a:ext uri="{FF2B5EF4-FFF2-40B4-BE49-F238E27FC236}">
                <a16:creationId xmlns:a16="http://schemas.microsoft.com/office/drawing/2014/main" id="{DB7D96F0-FE30-59C4-7CCF-A97B4BFDAD98}"/>
              </a:ext>
            </a:extLst>
          </p:cNvPr>
          <p:cNvSpPr/>
          <p:nvPr/>
        </p:nvSpPr>
        <p:spPr>
          <a:xfrm>
            <a:off x="7176043" y="3483186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8" name="Text 72">
            <a:extLst>
              <a:ext uri="{FF2B5EF4-FFF2-40B4-BE49-F238E27FC236}">
                <a16:creationId xmlns:a16="http://schemas.microsoft.com/office/drawing/2014/main" id="{F19C3313-7B85-8431-720C-A3D55E25DE17}"/>
              </a:ext>
            </a:extLst>
          </p:cNvPr>
          <p:cNvSpPr/>
          <p:nvPr/>
        </p:nvSpPr>
        <p:spPr>
          <a:xfrm>
            <a:off x="7226335" y="355633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19" name="Shape 73">
            <a:extLst>
              <a:ext uri="{FF2B5EF4-FFF2-40B4-BE49-F238E27FC236}">
                <a16:creationId xmlns:a16="http://schemas.microsoft.com/office/drawing/2014/main" id="{21F8E39E-DC41-3469-9B8D-CEBDA0E1E6E1}"/>
              </a:ext>
            </a:extLst>
          </p:cNvPr>
          <p:cNvSpPr/>
          <p:nvPr/>
        </p:nvSpPr>
        <p:spPr>
          <a:xfrm>
            <a:off x="665515" y="3867234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0" name="Text 74">
            <a:extLst>
              <a:ext uri="{FF2B5EF4-FFF2-40B4-BE49-F238E27FC236}">
                <a16:creationId xmlns:a16="http://schemas.microsoft.com/office/drawing/2014/main" id="{CF05382B-120D-A64A-4151-86AC0644855C}"/>
              </a:ext>
            </a:extLst>
          </p:cNvPr>
          <p:cNvSpPr/>
          <p:nvPr/>
        </p:nvSpPr>
        <p:spPr>
          <a:xfrm>
            <a:off x="715807" y="394038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21" name="Shape 75">
            <a:extLst>
              <a:ext uri="{FF2B5EF4-FFF2-40B4-BE49-F238E27FC236}">
                <a16:creationId xmlns:a16="http://schemas.microsoft.com/office/drawing/2014/main" id="{E36C59E2-C866-310F-7F08-4653DF83676E}"/>
              </a:ext>
            </a:extLst>
          </p:cNvPr>
          <p:cNvSpPr/>
          <p:nvPr/>
        </p:nvSpPr>
        <p:spPr>
          <a:xfrm>
            <a:off x="12324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2" name="Text 76">
            <a:extLst>
              <a:ext uri="{FF2B5EF4-FFF2-40B4-BE49-F238E27FC236}">
                <a16:creationId xmlns:a16="http://schemas.microsoft.com/office/drawing/2014/main" id="{A35245EA-3A12-FA98-B8D8-433700608777}"/>
              </a:ext>
            </a:extLst>
          </p:cNvPr>
          <p:cNvSpPr/>
          <p:nvPr/>
        </p:nvSpPr>
        <p:spPr>
          <a:xfrm>
            <a:off x="12827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1</a:t>
            </a:r>
            <a:endParaRPr lang="en-US" sz="1050" dirty="0"/>
          </a:p>
        </p:txBody>
      </p:sp>
      <p:sp>
        <p:nvSpPr>
          <p:cNvPr id="323" name="Shape 77">
            <a:extLst>
              <a:ext uri="{FF2B5EF4-FFF2-40B4-BE49-F238E27FC236}">
                <a16:creationId xmlns:a16="http://schemas.microsoft.com/office/drawing/2014/main" id="{F239F815-27AA-CE8D-2309-7D4CDD8A6F30}"/>
              </a:ext>
            </a:extLst>
          </p:cNvPr>
          <p:cNvSpPr/>
          <p:nvPr/>
        </p:nvSpPr>
        <p:spPr>
          <a:xfrm>
            <a:off x="1982251" y="3867234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 dirty="0"/>
          </a:p>
        </p:txBody>
      </p:sp>
      <p:sp>
        <p:nvSpPr>
          <p:cNvPr id="324" name="Text 78">
            <a:extLst>
              <a:ext uri="{FF2B5EF4-FFF2-40B4-BE49-F238E27FC236}">
                <a16:creationId xmlns:a16="http://schemas.microsoft.com/office/drawing/2014/main" id="{854ACF21-3A2F-B74F-C719-A78EEFE95FC1}"/>
              </a:ext>
            </a:extLst>
          </p:cNvPr>
          <p:cNvSpPr/>
          <p:nvPr/>
        </p:nvSpPr>
        <p:spPr>
          <a:xfrm>
            <a:off x="2193410" y="3901947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dirty="0">
                <a:latin typeface="Aptos" panose="020B0004020202020204" pitchFamily="34" charset="0"/>
              </a:rPr>
              <a:t>   </a:t>
            </a:r>
            <a:r>
              <a:rPr lang="en-US" sz="1050" dirty="0">
                <a:latin typeface="Aptos" panose="020B0004020202020204" pitchFamily="34" charset="0"/>
              </a:rPr>
              <a:t>0.2736</a:t>
            </a:r>
          </a:p>
        </p:txBody>
      </p:sp>
      <p:sp>
        <p:nvSpPr>
          <p:cNvPr id="325" name="Shape 79">
            <a:extLst>
              <a:ext uri="{FF2B5EF4-FFF2-40B4-BE49-F238E27FC236}">
                <a16:creationId xmlns:a16="http://schemas.microsoft.com/office/drawing/2014/main" id="{AAC1792A-6CC9-9A7B-CDFC-4DD205A8E279}"/>
              </a:ext>
            </a:extLst>
          </p:cNvPr>
          <p:cNvSpPr/>
          <p:nvPr/>
        </p:nvSpPr>
        <p:spPr>
          <a:xfrm>
            <a:off x="3097819" y="3867234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6" name="Text 80">
            <a:extLst>
              <a:ext uri="{FF2B5EF4-FFF2-40B4-BE49-F238E27FC236}">
                <a16:creationId xmlns:a16="http://schemas.microsoft.com/office/drawing/2014/main" id="{4B29CA73-836B-B9E1-25AE-019537466A4C}"/>
              </a:ext>
            </a:extLst>
          </p:cNvPr>
          <p:cNvSpPr/>
          <p:nvPr/>
        </p:nvSpPr>
        <p:spPr>
          <a:xfrm>
            <a:off x="3148111" y="394038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>
              <a:latin typeface="Aptos" panose="020B0004020202020204" pitchFamily="34" charset="0"/>
            </a:endParaRPr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161.208</a:t>
            </a:r>
          </a:p>
          <a:p>
            <a:pPr algn="ctr"/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7" name="Shape 81">
            <a:extLst>
              <a:ext uri="{FF2B5EF4-FFF2-40B4-BE49-F238E27FC236}">
                <a16:creationId xmlns:a16="http://schemas.microsoft.com/office/drawing/2014/main" id="{CE95C744-60B7-5903-41B5-55DA43E75947}"/>
              </a:ext>
            </a:extLst>
          </p:cNvPr>
          <p:cNvSpPr/>
          <p:nvPr/>
        </p:nvSpPr>
        <p:spPr>
          <a:xfrm>
            <a:off x="4323115" y="3867234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8" name="Text 82">
            <a:extLst>
              <a:ext uri="{FF2B5EF4-FFF2-40B4-BE49-F238E27FC236}">
                <a16:creationId xmlns:a16="http://schemas.microsoft.com/office/drawing/2014/main" id="{351BB76D-7C54-0F08-D027-4F2EE6500D79}"/>
              </a:ext>
            </a:extLst>
          </p:cNvPr>
          <p:cNvSpPr/>
          <p:nvPr/>
        </p:nvSpPr>
        <p:spPr>
          <a:xfrm>
            <a:off x="4373407" y="4017093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0.0461</a:t>
            </a:r>
          </a:p>
          <a:p>
            <a:pPr algn="ctr"/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29" name="Shape 83">
            <a:extLst>
              <a:ext uri="{FF2B5EF4-FFF2-40B4-BE49-F238E27FC236}">
                <a16:creationId xmlns:a16="http://schemas.microsoft.com/office/drawing/2014/main" id="{2F8F94F0-04C7-EB66-FDD3-6AD683BB43FE}"/>
              </a:ext>
            </a:extLst>
          </p:cNvPr>
          <p:cNvSpPr/>
          <p:nvPr/>
        </p:nvSpPr>
        <p:spPr>
          <a:xfrm>
            <a:off x="5310667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0" name="Text 84">
            <a:extLst>
              <a:ext uri="{FF2B5EF4-FFF2-40B4-BE49-F238E27FC236}">
                <a16:creationId xmlns:a16="http://schemas.microsoft.com/office/drawing/2014/main" id="{F998787F-688F-FFFB-97B4-811FCDC0CAC2}"/>
              </a:ext>
            </a:extLst>
          </p:cNvPr>
          <p:cNvSpPr/>
          <p:nvPr/>
        </p:nvSpPr>
        <p:spPr>
          <a:xfrm>
            <a:off x="5360959" y="398610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34.394</a:t>
            </a:r>
          </a:p>
          <a:p>
            <a:pPr algn="ctr"/>
            <a:endParaRPr lang="en-US" sz="1050" dirty="0"/>
          </a:p>
        </p:txBody>
      </p:sp>
      <p:sp>
        <p:nvSpPr>
          <p:cNvPr id="331" name="Shape 85">
            <a:extLst>
              <a:ext uri="{FF2B5EF4-FFF2-40B4-BE49-F238E27FC236}">
                <a16:creationId xmlns:a16="http://schemas.microsoft.com/office/drawing/2014/main" id="{C948F700-9A2F-CD1F-94CB-CBB48264BF68}"/>
              </a:ext>
            </a:extLst>
          </p:cNvPr>
          <p:cNvSpPr/>
          <p:nvPr/>
        </p:nvSpPr>
        <p:spPr>
          <a:xfrm>
            <a:off x="6243355" y="3867234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2" name="Text 86">
            <a:extLst>
              <a:ext uri="{FF2B5EF4-FFF2-40B4-BE49-F238E27FC236}">
                <a16:creationId xmlns:a16="http://schemas.microsoft.com/office/drawing/2014/main" id="{417C78BE-FAF8-A317-5376-431D0EA3328B}"/>
              </a:ext>
            </a:extLst>
          </p:cNvPr>
          <p:cNvSpPr/>
          <p:nvPr/>
        </p:nvSpPr>
        <p:spPr>
          <a:xfrm>
            <a:off x="6285554" y="398610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4.556</a:t>
            </a:r>
          </a:p>
          <a:p>
            <a:pPr algn="ctr"/>
            <a:endParaRPr lang="en-US" sz="1050" dirty="0"/>
          </a:p>
        </p:txBody>
      </p:sp>
      <p:sp>
        <p:nvSpPr>
          <p:cNvPr id="333" name="Shape 87">
            <a:extLst>
              <a:ext uri="{FF2B5EF4-FFF2-40B4-BE49-F238E27FC236}">
                <a16:creationId xmlns:a16="http://schemas.microsoft.com/office/drawing/2014/main" id="{2E0D19EF-0707-F29F-3190-B1E8BD72DB5B}"/>
              </a:ext>
            </a:extLst>
          </p:cNvPr>
          <p:cNvSpPr/>
          <p:nvPr/>
        </p:nvSpPr>
        <p:spPr>
          <a:xfrm>
            <a:off x="7176043" y="3867234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4" name="Text 88">
            <a:extLst>
              <a:ext uri="{FF2B5EF4-FFF2-40B4-BE49-F238E27FC236}">
                <a16:creationId xmlns:a16="http://schemas.microsoft.com/office/drawing/2014/main" id="{410A7CAB-5C9E-BF3F-895F-AC6FE44693D0}"/>
              </a:ext>
            </a:extLst>
          </p:cNvPr>
          <p:cNvSpPr/>
          <p:nvPr/>
        </p:nvSpPr>
        <p:spPr>
          <a:xfrm>
            <a:off x="7226335" y="394038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363" name="Shape 153">
            <a:extLst>
              <a:ext uri="{FF2B5EF4-FFF2-40B4-BE49-F238E27FC236}">
                <a16:creationId xmlns:a16="http://schemas.microsoft.com/office/drawing/2014/main" id="{DAF60D1F-4F10-9F3C-B7D5-0ABD40007F33}"/>
              </a:ext>
            </a:extLst>
          </p:cNvPr>
          <p:cNvSpPr/>
          <p:nvPr/>
        </p:nvSpPr>
        <p:spPr>
          <a:xfrm>
            <a:off x="8365505" y="2285322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0EE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Text 154">
            <a:extLst>
              <a:ext uri="{FF2B5EF4-FFF2-40B4-BE49-F238E27FC236}">
                <a16:creationId xmlns:a16="http://schemas.microsoft.com/office/drawing/2014/main" id="{38ABA092-BC77-D3FF-6D22-B731DFF90EDA}"/>
              </a:ext>
            </a:extLst>
          </p:cNvPr>
          <p:cNvSpPr/>
          <p:nvPr/>
        </p:nvSpPr>
        <p:spPr>
          <a:xfrm>
            <a:off x="8575817" y="254135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C03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>
              <a:solidFill>
                <a:srgbClr val="C0392B"/>
              </a:solidFill>
            </a:endParaRPr>
          </a:p>
        </p:txBody>
      </p:sp>
      <p:sp>
        <p:nvSpPr>
          <p:cNvPr id="365" name="Text 155">
            <a:extLst>
              <a:ext uri="{FF2B5EF4-FFF2-40B4-BE49-F238E27FC236}">
                <a16:creationId xmlns:a16="http://schemas.microsoft.com/office/drawing/2014/main" id="{2414850D-8B44-CDB9-E21E-1C4441C41038}"/>
              </a:ext>
            </a:extLst>
          </p:cNvPr>
          <p:cNvSpPr/>
          <p:nvPr/>
        </p:nvSpPr>
        <p:spPr>
          <a:xfrm>
            <a:off x="8575817" y="287968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3  •  0.9568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2104" y="4292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865B"/>
                </a:solidFill>
              </a:rPr>
              <a:t>TOPSIS Algorithm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6720" y="995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IoT-Sense — best ranked offer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022080" y="703072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13520" y="8128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865B"/>
                </a:solidFill>
              </a:rPr>
              <a:t>slice = mMTC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6720" y="1526032"/>
            <a:ext cx="11173968" cy="457200"/>
          </a:xfrm>
          <a:prstGeom prst="roundRect">
            <a:avLst>
              <a:gd name="adj" fmla="val 16000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1654048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8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09600" y="2284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Best TOPSIS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522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0.6993</a:t>
            </a:r>
            <a:endParaRPr lang="en-US" sz="3100" dirty="0">
              <a:solidFill>
                <a:srgbClr val="1886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13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 1 • Offer 4 • Feasible: 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41520" y="2294128"/>
            <a:ext cx="224028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51248" y="234442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81800" y="2294128"/>
            <a:ext cx="3794760" cy="384048"/>
          </a:xfrm>
          <a:prstGeom prst="rect">
            <a:avLst/>
          </a:prstGeom>
          <a:solidFill>
            <a:srgbClr val="18865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91528" y="23444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41520" y="2678176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51248" y="272846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1800" y="2678176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91528" y="272846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41520" y="3062224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51248" y="311251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81800" y="3062224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91528" y="31125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41520" y="3446272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51248" y="349656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1800" y="3446272"/>
            <a:ext cx="3794760" cy="44009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91528" y="349656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endParaRPr lang="en-US" sz="1400" dirty="0"/>
          </a:p>
          <a:p>
            <a:r>
              <a:rPr lang="en-US" sz="1400" dirty="0"/>
              <a:t>0.6993</a:t>
            </a:r>
          </a:p>
          <a:p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41520" y="3830320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51248" y="38806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81800" y="3830320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91528" y="38806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312.088 Mbps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41520" y="4214368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1248" y="4264660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81800" y="4214368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91528" y="42646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 ms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41520" y="4598416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51248" y="46487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81800" y="4598416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91528" y="46487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€10.385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41520" y="4982464"/>
            <a:ext cx="2240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51248" y="50327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81800" y="4982464"/>
            <a:ext cx="3794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91528" y="503275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5.787 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41520" y="5366512"/>
            <a:ext cx="224028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51248" y="54168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81800" y="5366512"/>
            <a:ext cx="37947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91528" y="541680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100" dirty="0"/>
          </a:p>
        </p:txBody>
      </p:sp>
      <p:sp>
        <p:nvSpPr>
          <p:cNvPr id="57" name="Shape 49">
            <a:extLst>
              <a:ext uri="{FF2B5EF4-FFF2-40B4-BE49-F238E27FC236}">
                <a16:creationId xmlns:a16="http://schemas.microsoft.com/office/drawing/2014/main" id="{F1B62407-2263-A42D-F4DF-59F7FD10791C}"/>
              </a:ext>
            </a:extLst>
          </p:cNvPr>
          <p:cNvSpPr/>
          <p:nvPr/>
        </p:nvSpPr>
        <p:spPr>
          <a:xfrm>
            <a:off x="36271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9F04BA77-EB78-7AA6-9280-CB639B2A1A5E}"/>
              </a:ext>
            </a:extLst>
          </p:cNvPr>
          <p:cNvSpPr/>
          <p:nvPr/>
        </p:nvSpPr>
        <p:spPr>
          <a:xfrm>
            <a:off x="52730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Throughput min</a:t>
            </a:r>
            <a:endParaRPr lang="en-US" sz="850" dirty="0"/>
          </a:p>
        </p:txBody>
      </p:sp>
      <p:sp>
        <p:nvSpPr>
          <p:cNvPr id="59" name="Text 51">
            <a:extLst>
              <a:ext uri="{FF2B5EF4-FFF2-40B4-BE49-F238E27FC236}">
                <a16:creationId xmlns:a16="http://schemas.microsoft.com/office/drawing/2014/main" id="{842AAEBC-148C-6721-7418-8EA0F4278388}"/>
              </a:ext>
            </a:extLst>
          </p:cNvPr>
          <p:cNvSpPr/>
          <p:nvPr/>
        </p:nvSpPr>
        <p:spPr>
          <a:xfrm>
            <a:off x="52730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20.0 Mbps</a:t>
            </a:r>
            <a:endParaRPr lang="en-US" dirty="0"/>
          </a:p>
        </p:txBody>
      </p:sp>
      <p:sp>
        <p:nvSpPr>
          <p:cNvPr id="60" name="Shape 52">
            <a:extLst>
              <a:ext uri="{FF2B5EF4-FFF2-40B4-BE49-F238E27FC236}">
                <a16:creationId xmlns:a16="http://schemas.microsoft.com/office/drawing/2014/main" id="{537CEB09-8721-73F1-E0F8-40EC4D8D78C0}"/>
              </a:ext>
            </a:extLst>
          </p:cNvPr>
          <p:cNvSpPr/>
          <p:nvPr/>
        </p:nvSpPr>
        <p:spPr>
          <a:xfrm>
            <a:off x="319735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3">
            <a:extLst>
              <a:ext uri="{FF2B5EF4-FFF2-40B4-BE49-F238E27FC236}">
                <a16:creationId xmlns:a16="http://schemas.microsoft.com/office/drawing/2014/main" id="{852550C2-9AEC-20B3-E27C-C3608BD642C3}"/>
              </a:ext>
            </a:extLst>
          </p:cNvPr>
          <p:cNvSpPr/>
          <p:nvPr/>
        </p:nvSpPr>
        <p:spPr>
          <a:xfrm>
            <a:off x="336194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Latency max</a:t>
            </a:r>
            <a:endParaRPr lang="en-US" sz="850" dirty="0"/>
          </a:p>
        </p:txBody>
      </p:sp>
      <p:sp>
        <p:nvSpPr>
          <p:cNvPr id="62" name="Text 54">
            <a:extLst>
              <a:ext uri="{FF2B5EF4-FFF2-40B4-BE49-F238E27FC236}">
                <a16:creationId xmlns:a16="http://schemas.microsoft.com/office/drawing/2014/main" id="{B465B296-83DC-1ED6-A9F1-C68C710A23E2}"/>
              </a:ext>
            </a:extLst>
          </p:cNvPr>
          <p:cNvSpPr/>
          <p:nvPr/>
        </p:nvSpPr>
        <p:spPr>
          <a:xfrm>
            <a:off x="336194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10.0 ms</a:t>
            </a:r>
            <a:endParaRPr lang="en-US" dirty="0"/>
          </a:p>
        </p:txBody>
      </p:sp>
      <p:sp>
        <p:nvSpPr>
          <p:cNvPr id="63" name="Shape 55">
            <a:extLst>
              <a:ext uri="{FF2B5EF4-FFF2-40B4-BE49-F238E27FC236}">
                <a16:creationId xmlns:a16="http://schemas.microsoft.com/office/drawing/2014/main" id="{AC97FC7D-81F4-5BF9-5FF8-4637991D9550}"/>
              </a:ext>
            </a:extLst>
          </p:cNvPr>
          <p:cNvSpPr/>
          <p:nvPr/>
        </p:nvSpPr>
        <p:spPr>
          <a:xfrm>
            <a:off x="603199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>
            <a:extLst>
              <a:ext uri="{FF2B5EF4-FFF2-40B4-BE49-F238E27FC236}">
                <a16:creationId xmlns:a16="http://schemas.microsoft.com/office/drawing/2014/main" id="{F048995D-AC8D-A164-829E-EBA052D35ADD}"/>
              </a:ext>
            </a:extLst>
          </p:cNvPr>
          <p:cNvSpPr/>
          <p:nvPr/>
        </p:nvSpPr>
        <p:spPr>
          <a:xfrm>
            <a:off x="619658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Cost max</a:t>
            </a:r>
            <a:endParaRPr lang="en-US" sz="850" dirty="0"/>
          </a:p>
        </p:txBody>
      </p:sp>
      <p:sp>
        <p:nvSpPr>
          <p:cNvPr id="65" name="Text 57">
            <a:extLst>
              <a:ext uri="{FF2B5EF4-FFF2-40B4-BE49-F238E27FC236}">
                <a16:creationId xmlns:a16="http://schemas.microsoft.com/office/drawing/2014/main" id="{4F9E57EB-99BF-8E16-6708-83D32E538C63}"/>
              </a:ext>
            </a:extLst>
          </p:cNvPr>
          <p:cNvSpPr/>
          <p:nvPr/>
        </p:nvSpPr>
        <p:spPr>
          <a:xfrm>
            <a:off x="619658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€50.0</a:t>
            </a:r>
            <a:endParaRPr lang="en-US" dirty="0"/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0CA84FD9-19F6-8729-EED3-3DA3459F2ACE}"/>
              </a:ext>
            </a:extLst>
          </p:cNvPr>
          <p:cNvSpPr/>
          <p:nvPr/>
        </p:nvSpPr>
        <p:spPr>
          <a:xfrm>
            <a:off x="8866632" y="5970016"/>
            <a:ext cx="2670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>
            <a:extLst>
              <a:ext uri="{FF2B5EF4-FFF2-40B4-BE49-F238E27FC236}">
                <a16:creationId xmlns:a16="http://schemas.microsoft.com/office/drawing/2014/main" id="{9D84B4F3-1699-104E-2342-835811707A9C}"/>
              </a:ext>
            </a:extLst>
          </p:cNvPr>
          <p:cNvSpPr/>
          <p:nvPr/>
        </p:nvSpPr>
        <p:spPr>
          <a:xfrm>
            <a:off x="9031224" y="607974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Energy max</a:t>
            </a:r>
            <a:endParaRPr lang="en-US" sz="850" dirty="0"/>
          </a:p>
        </p:txBody>
      </p:sp>
      <p:sp>
        <p:nvSpPr>
          <p:cNvPr id="68" name="Text 60">
            <a:extLst>
              <a:ext uri="{FF2B5EF4-FFF2-40B4-BE49-F238E27FC236}">
                <a16:creationId xmlns:a16="http://schemas.microsoft.com/office/drawing/2014/main" id="{B25CEC17-E713-EEBC-3918-6AAEBC8A1BA3}"/>
              </a:ext>
            </a:extLst>
          </p:cNvPr>
          <p:cNvSpPr/>
          <p:nvPr/>
        </p:nvSpPr>
        <p:spPr>
          <a:xfrm>
            <a:off x="9031224" y="6299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8865B"/>
                </a:solidFill>
              </a:rPr>
              <a:t>100.0 W</a:t>
            </a:r>
            <a:endParaRPr lang="en-US" dirty="0"/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7121279C-2AB8-1CBC-7D5E-CD85CE2F5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15" y="246888"/>
            <a:ext cx="2446591" cy="71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0A749075-4CAE-17D0-2A3D-972AABD7E5CB}"/>
              </a:ext>
            </a:extLst>
          </p:cNvPr>
          <p:cNvSpPr/>
          <p:nvPr/>
        </p:nvSpPr>
        <p:spPr>
          <a:xfrm>
            <a:off x="4532376" y="1096264"/>
            <a:ext cx="715095" cy="237744"/>
          </a:xfrm>
          <a:prstGeom prst="roundRect">
            <a:avLst>
              <a:gd name="adj" fmla="val 14286"/>
            </a:avLst>
          </a:prstGeom>
          <a:solidFill>
            <a:srgbClr val="18865B"/>
          </a:solidFill>
          <a:ln w="12700">
            <a:solidFill>
              <a:srgbClr val="2F6FDB">
                <a:alpha val="70000"/>
              </a:srgbClr>
            </a:solidFill>
            <a:prstDash val="solid"/>
          </a:ln>
        </p:spPr>
        <p:txBody>
          <a:bodyPr/>
          <a:lstStyle/>
          <a:p>
            <a:r>
              <a:rPr lang="en-US" sz="1020" dirty="0">
                <a:solidFill>
                  <a:schemeClr val="bg1"/>
                </a:solidFill>
                <a:latin typeface="Aptos" panose="020B0004020202020204" pitchFamily="34" charset="0"/>
              </a:rPr>
              <a:t> MCS:28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865B"/>
          </a:solidFill>
          <a:ln w="12700">
            <a:solidFill>
              <a:srgbClr val="1886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365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TOPSIS Algorithm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281160" y="329184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AF8F1"/>
          </a:solidFill>
          <a:ln w="12700">
            <a:solidFill>
              <a:srgbClr val="1886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00032" y="4480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 • mMTC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58368" y="7498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IoT-Sense: all ranked offers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8368" y="1225296"/>
            <a:ext cx="10863072" cy="566928"/>
          </a:xfrm>
          <a:prstGeom prst="roundRect">
            <a:avLst>
              <a:gd name="adj" fmla="val 9677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1389888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400" b="1" dirty="0">
                <a:solidFill>
                  <a:srgbClr val="18865B"/>
                </a:solidFill>
              </a:rPr>
              <a:t>User Intent: User wants an mMTC slice for IoT sensing with throughput (≥ 20), latency (≤ 10), cost (≤ 50), and energy (≤ 100) limits.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1975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Criterion type: max, min, min, min • Weights: 0.2, 0.2, 0.3, 0.3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56692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" y="2359152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252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55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75104" y="2286000"/>
            <a:ext cx="111556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25396" y="2359152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90672" y="2286000"/>
            <a:ext cx="1225296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40964" y="2359152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5968" y="2286000"/>
            <a:ext cx="987552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66260" y="23591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53812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6208" y="2286000"/>
            <a:ext cx="93268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86500" y="2359152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68896" y="2286000"/>
            <a:ext cx="749808" cy="384048"/>
          </a:xfrm>
          <a:prstGeom prst="rect">
            <a:avLst/>
          </a:prstGeom>
          <a:solidFill>
            <a:srgbClr val="18865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19188" y="2359152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670048"/>
            <a:ext cx="56692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8660" y="2743200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252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755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75104" y="2670048"/>
            <a:ext cx="111556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27148" y="2729484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0.699</a:t>
            </a:r>
          </a:p>
        </p:txBody>
      </p:sp>
      <p:sp>
        <p:nvSpPr>
          <p:cNvPr id="33" name="Shape 31"/>
          <p:cNvSpPr/>
          <p:nvPr/>
        </p:nvSpPr>
        <p:spPr>
          <a:xfrm>
            <a:off x="3090672" y="2670048"/>
            <a:ext cx="1225296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0" y="2743200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312.088</a:t>
            </a:r>
          </a:p>
        </p:txBody>
      </p:sp>
      <p:sp>
        <p:nvSpPr>
          <p:cNvPr id="35" name="Shape 33"/>
          <p:cNvSpPr/>
          <p:nvPr/>
        </p:nvSpPr>
        <p:spPr>
          <a:xfrm>
            <a:off x="4315968" y="2670048"/>
            <a:ext cx="987552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66260" y="274320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0.154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03520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53812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10.385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36208" y="2670048"/>
            <a:ext cx="93268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86500" y="27432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5.787</a:t>
            </a:r>
            <a:endParaRPr lang="en-US" sz="1050" dirty="0">
              <a:solidFill>
                <a:srgbClr val="18865B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68896" y="2670048"/>
            <a:ext cx="749808" cy="384048"/>
          </a:xfrm>
          <a:prstGeom prst="rect">
            <a:avLst/>
          </a:prstGeom>
          <a:solidFill>
            <a:srgbClr val="EAF8F1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19188" y="2743200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" y="3054096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8660" y="3127248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2252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2755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</a:rPr>
              <a:t>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75104" y="3054096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40172" y="3113532"/>
            <a:ext cx="568313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0.580</a:t>
            </a:r>
          </a:p>
        </p:txBody>
      </p:sp>
      <p:sp>
        <p:nvSpPr>
          <p:cNvPr id="49" name="Shape 47"/>
          <p:cNvSpPr/>
          <p:nvPr/>
        </p:nvSpPr>
        <p:spPr>
          <a:xfrm>
            <a:off x="3090672" y="3054096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59619" y="3127248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278.869</a:t>
            </a:r>
          </a:p>
        </p:txBody>
      </p:sp>
      <p:sp>
        <p:nvSpPr>
          <p:cNvPr id="51" name="Shape 49"/>
          <p:cNvSpPr/>
          <p:nvPr/>
        </p:nvSpPr>
        <p:spPr>
          <a:xfrm>
            <a:off x="4315968" y="3054096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30952" y="3127248"/>
            <a:ext cx="6446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0.172</a:t>
            </a:r>
          </a:p>
        </p:txBody>
      </p:sp>
      <p:sp>
        <p:nvSpPr>
          <p:cNvPr id="53" name="Shape 51"/>
          <p:cNvSpPr/>
          <p:nvPr/>
        </p:nvSpPr>
        <p:spPr>
          <a:xfrm>
            <a:off x="5303520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353812" y="3127248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         1.928</a:t>
            </a:r>
          </a:p>
        </p:txBody>
      </p:sp>
      <p:sp>
        <p:nvSpPr>
          <p:cNvPr id="55" name="Shape 53"/>
          <p:cNvSpPr/>
          <p:nvPr/>
        </p:nvSpPr>
        <p:spPr>
          <a:xfrm>
            <a:off x="6236208" y="3054096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86500" y="320040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endParaRPr lang="en-US" sz="1050" dirty="0">
              <a:latin typeface="Aptos" panose="020B0004020202020204" pitchFamily="34" charset="0"/>
            </a:endParaRPr>
          </a:p>
          <a:p>
            <a:pPr algn="ctr"/>
            <a:r>
              <a:rPr lang="en-US" sz="1500" dirty="0"/>
              <a:t>37.548</a:t>
            </a:r>
          </a:p>
          <a:p>
            <a:pPr algn="ctr"/>
            <a:endParaRPr lang="en-US" sz="1050" dirty="0">
              <a:latin typeface="Aptos" panose="020B0004020202020204" pitchFamily="34" charset="0"/>
            </a:endParaRPr>
          </a:p>
          <a:p>
            <a:pPr algn="ctr"/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168896" y="3054096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19188" y="3127248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58368" y="3438144"/>
            <a:ext cx="56692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8660" y="3511296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2252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755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975104" y="3438144"/>
            <a:ext cx="111556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987127" y="3511635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0.463</a:t>
            </a:r>
          </a:p>
          <a:p>
            <a:pPr algn="ctr"/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090672" y="3438144"/>
            <a:ext cx="1225296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140964" y="3511296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latin typeface="Aptos" panose="020B0004020202020204" pitchFamily="34" charset="0"/>
              </a:rPr>
              <a:t>            430.242</a:t>
            </a:r>
          </a:p>
        </p:txBody>
      </p:sp>
      <p:sp>
        <p:nvSpPr>
          <p:cNvPr id="67" name="Shape 65"/>
          <p:cNvSpPr/>
          <p:nvPr/>
        </p:nvSpPr>
        <p:spPr>
          <a:xfrm>
            <a:off x="4315968" y="3438144"/>
            <a:ext cx="987552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372973" y="346557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         0.112</a:t>
            </a:r>
          </a:p>
        </p:txBody>
      </p:sp>
      <p:sp>
        <p:nvSpPr>
          <p:cNvPr id="69" name="Shape 67"/>
          <p:cNvSpPr/>
          <p:nvPr/>
        </p:nvSpPr>
        <p:spPr>
          <a:xfrm>
            <a:off x="5303520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53812" y="3511296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050" dirty="0">
                <a:latin typeface="Aptos" panose="020B0004020202020204" pitchFamily="34" charset="0"/>
              </a:rPr>
              <a:t>18.048</a:t>
            </a:r>
          </a:p>
          <a:p>
            <a:pPr algn="ctr"/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236208" y="3438144"/>
            <a:ext cx="93268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86500" y="3497580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/>
              <a:t>       </a:t>
            </a:r>
            <a:r>
              <a:rPr lang="en-US" sz="1050" dirty="0">
                <a:latin typeface="Aptos" panose="020B0004020202020204" pitchFamily="34" charset="0"/>
              </a:rPr>
              <a:t>27.037</a:t>
            </a:r>
          </a:p>
        </p:txBody>
      </p:sp>
      <p:sp>
        <p:nvSpPr>
          <p:cNvPr id="73" name="Shape 71"/>
          <p:cNvSpPr/>
          <p:nvPr/>
        </p:nvSpPr>
        <p:spPr>
          <a:xfrm>
            <a:off x="7168896" y="3438144"/>
            <a:ext cx="749808" cy="384048"/>
          </a:xfrm>
          <a:prstGeom prst="rect">
            <a:avLst/>
          </a:prstGeom>
          <a:solidFill>
            <a:srgbClr val="F9FAFB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19188" y="3511296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58368" y="3822192"/>
            <a:ext cx="56692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08660" y="3895344"/>
            <a:ext cx="466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2252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755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975104" y="3822192"/>
            <a:ext cx="111556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987127" y="3881628"/>
            <a:ext cx="10149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1050" dirty="0"/>
          </a:p>
          <a:p>
            <a:pPr algn="ctr"/>
            <a:r>
              <a:rPr lang="en-US" sz="1100" dirty="0">
                <a:latin typeface="Aptos" panose="020B0004020202020204" pitchFamily="34" charset="0"/>
              </a:rPr>
              <a:t>0.399</a:t>
            </a:r>
          </a:p>
          <a:p>
            <a:pPr algn="ctr"/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090672" y="3822192"/>
            <a:ext cx="1225296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135715" y="3941064"/>
            <a:ext cx="1124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60.930</a:t>
            </a:r>
          </a:p>
          <a:p>
            <a:pPr algn="ctr"/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315968" y="3822192"/>
            <a:ext cx="987552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324205" y="392480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  0.794</a:t>
            </a:r>
          </a:p>
          <a:p>
            <a:pPr algn="ctr"/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303520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353812" y="3919051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/>
              <a:t>8.979</a:t>
            </a:r>
          </a:p>
          <a:p>
            <a:pPr algn="ctr"/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236208" y="3822192"/>
            <a:ext cx="93268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286500" y="394106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19.783</a:t>
            </a:r>
          </a:p>
          <a:p>
            <a:pPr algn="ctr"/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7168896" y="3822192"/>
            <a:ext cx="749808" cy="384048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219188" y="3895344"/>
            <a:ext cx="649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50" dirty="0"/>
          </a:p>
        </p:txBody>
      </p:sp>
      <p:sp>
        <p:nvSpPr>
          <p:cNvPr id="155" name="Shape 153"/>
          <p:cNvSpPr/>
          <p:nvPr/>
        </p:nvSpPr>
        <p:spPr>
          <a:xfrm>
            <a:off x="8366760" y="2286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2700">
            <a:solidFill>
              <a:srgbClr val="EAF8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8503920" y="25420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88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score</a:t>
            </a:r>
            <a:endParaRPr lang="en-US" sz="1060" dirty="0"/>
          </a:p>
        </p:txBody>
      </p:sp>
      <p:sp>
        <p:nvSpPr>
          <p:cNvPr id="157" name="Text 155"/>
          <p:cNvSpPr/>
          <p:nvPr/>
        </p:nvSpPr>
        <p:spPr>
          <a:xfrm>
            <a:off x="8577072" y="2880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4  •  0.699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</TotalTime>
  <Words>940</Words>
  <Application>Microsoft Office PowerPoint</Application>
  <PresentationFormat>Widescreen</PresentationFormat>
  <Paragraphs>370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Arial Unicode MS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Al Rawass</dc:creator>
  <cp:lastModifiedBy>Adnan Al Rawass</cp:lastModifiedBy>
  <cp:revision>31</cp:revision>
  <dcterms:created xsi:type="dcterms:W3CDTF">2026-04-24T09:03:09Z</dcterms:created>
  <dcterms:modified xsi:type="dcterms:W3CDTF">2026-06-13T19:38:03Z</dcterms:modified>
</cp:coreProperties>
</file>